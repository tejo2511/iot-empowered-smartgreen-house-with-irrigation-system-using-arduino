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4" r:id="rId23"/>
    <p:sldId id="277" r:id="rId24"/>
    <p:sldId id="278" r:id="rId25"/>
    <p:sldId id="279" r:id="rId26"/>
    <p:sldId id="280" r:id="rId27"/>
    <p:sldId id="281" r:id="rId28"/>
  </p:sldIdLst>
  <p:sldSz cx="12192000" cy="6858000"/>
  <p:notesSz cx="6858000" cy="9144000"/>
  <p:embeddedFontLst>
    <p:embeddedFont>
      <p:font typeface="Aharoni" panose="02010803020104030203" pitchFamily="2" charset="-79"/>
      <p:bold r:id="rId30"/>
    </p:embeddedFont>
    <p:embeddedFont>
      <p:font typeface="Calibri" panose="020F0502020204030204" pitchFamily="34"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7J9WOSHf9lk0ovcw6qscq7bSQ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725" y="2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2fdddfdc09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2fdddfdc09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2fdddfde5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2fdddfde5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2fdddfde56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2fdddfde5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2fdddfdc09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2fdddfdc0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2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3" name="Google Shape;2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3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3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2"/>
          <p:cNvSpPr>
            <a:spLocks noGrp="1"/>
          </p:cNvSpPr>
          <p:nvPr>
            <p:ph type="pic" idx="2"/>
          </p:nvPr>
        </p:nvSpPr>
        <p:spPr>
          <a:xfrm>
            <a:off x="5183188" y="987425"/>
            <a:ext cx="6172200" cy="4873625"/>
          </a:xfrm>
          <a:prstGeom prst="rect">
            <a:avLst/>
          </a:prstGeom>
          <a:noFill/>
          <a:ln>
            <a:noFill/>
          </a:ln>
        </p:spPr>
      </p:sp>
      <p:sp>
        <p:nvSpPr>
          <p:cNvPr id="64" name="Google Shape;64;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mvgrce.com/taxonomy/term/71"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https://www.mvgrce.com/taxonomy/term/66"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slideshare.net/AmitSaini7/arduino-based-intelligent-greenhouse-"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hyperlink" Target="https://www.community.ruggedboard.com/post/iot-smart-agriculture" TargetMode="External"/><Relationship Id="rId4" Type="http://schemas.openxmlformats.org/officeDocument/2006/relationships/hyperlink" Target="https://www.slideshare.net/zaynssetiawam/green-house-monitoring-system-based-"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1506071" y="132328"/>
            <a:ext cx="8839200" cy="3803285"/>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IN" sz="2800" b="0" i="0" u="none" strike="noStrike" cap="none">
                <a:solidFill>
                  <a:schemeClr val="dk1"/>
                </a:solidFill>
                <a:latin typeface="Calibri"/>
                <a:ea typeface="Calibri"/>
                <a:cs typeface="Calibri"/>
                <a:sym typeface="Calibri"/>
              </a:rPr>
              <a:t> </a:t>
            </a:r>
            <a:endParaRPr/>
          </a:p>
          <a:p>
            <a:pPr marL="0" marR="0" lvl="0" indent="0" algn="ctr" rtl="0">
              <a:lnSpc>
                <a:spcPct val="107000"/>
              </a:lnSpc>
              <a:spcBef>
                <a:spcPts val="800"/>
              </a:spcBef>
              <a:spcAft>
                <a:spcPts val="0"/>
              </a:spcAft>
              <a:buNone/>
            </a:pPr>
            <a:r>
              <a:rPr lang="en-IN" sz="2800" b="0" i="0" u="none" strike="noStrike" cap="none">
                <a:solidFill>
                  <a:schemeClr val="dk1"/>
                </a:solidFill>
                <a:latin typeface="Arial"/>
                <a:ea typeface="Arial"/>
                <a:cs typeface="Arial"/>
                <a:sym typeface="Arial"/>
              </a:rPr>
              <a:t>Internet of Things Empowered Smart Greenhouse Farming</a:t>
            </a:r>
            <a:endParaRPr/>
          </a:p>
          <a:p>
            <a:pPr marL="0" marR="0" lvl="0" indent="0" algn="ctr" rtl="0">
              <a:lnSpc>
                <a:spcPct val="107000"/>
              </a:lnSpc>
              <a:spcBef>
                <a:spcPts val="800"/>
              </a:spcBef>
              <a:spcAft>
                <a:spcPts val="0"/>
              </a:spcAft>
              <a:buNone/>
            </a:pPr>
            <a:r>
              <a:rPr lang="en-IN" sz="1800" b="0" i="0" u="none" strike="noStrike" cap="none">
                <a:solidFill>
                  <a:schemeClr val="dk1"/>
                </a:solidFill>
                <a:latin typeface="Calibri"/>
                <a:ea typeface="Calibri"/>
                <a:cs typeface="Calibri"/>
                <a:sym typeface="Calibri"/>
              </a:rPr>
              <a:t>Under the guidance of</a:t>
            </a:r>
            <a:endParaRPr/>
          </a:p>
          <a:p>
            <a:pPr marL="0" marR="0" lvl="0" indent="0" algn="ctr" rtl="0">
              <a:lnSpc>
                <a:spcPct val="107000"/>
              </a:lnSpc>
              <a:spcBef>
                <a:spcPts val="800"/>
              </a:spcBef>
              <a:spcAft>
                <a:spcPts val="0"/>
              </a:spcAft>
              <a:buNone/>
            </a:pPr>
            <a:r>
              <a:rPr lang="en-IN" sz="1800" b="1" i="0" u="none" strike="noStrike" cap="none">
                <a:solidFill>
                  <a:schemeClr val="dk1"/>
                </a:solidFill>
                <a:latin typeface="Calibri"/>
                <a:ea typeface="Calibri"/>
                <a:cs typeface="Calibri"/>
                <a:sym typeface="Calibri"/>
              </a:rPr>
              <a:t>Smt </a:t>
            </a:r>
            <a:r>
              <a:rPr lang="en-IN" sz="1800" b="0" i="0" u="none" strike="noStrike" cap="none">
                <a:solidFill>
                  <a:srgbClr val="262626"/>
                </a:solidFill>
                <a:latin typeface="Open Sans"/>
                <a:ea typeface="Open Sans"/>
                <a:cs typeface="Open Sans"/>
                <a:sym typeface="Open Sans"/>
              </a:rPr>
              <a:t>U.N.Subhadra Devi</a:t>
            </a:r>
            <a:endParaRPr sz="1800" b="0" i="0" u="none" strike="noStrike" cap="none">
              <a:solidFill>
                <a:schemeClr val="dk1"/>
              </a:solidFill>
              <a:latin typeface="Calibri"/>
              <a:ea typeface="Calibri"/>
              <a:cs typeface="Calibri"/>
              <a:sym typeface="Calibri"/>
            </a:endParaRPr>
          </a:p>
          <a:p>
            <a:pPr marL="0" marR="0" lvl="0" indent="0" algn="ctr" rtl="0">
              <a:lnSpc>
                <a:spcPct val="75000"/>
              </a:lnSpc>
              <a:spcBef>
                <a:spcPts val="800"/>
              </a:spcBef>
              <a:spcAft>
                <a:spcPts val="0"/>
              </a:spcAft>
              <a:buNone/>
            </a:pPr>
            <a:r>
              <a:rPr lang="en-IN" sz="1800" b="0" i="0" u="none" strike="noStrike" cap="none">
                <a:solidFill>
                  <a:srgbClr val="262626"/>
                </a:solidFill>
                <a:latin typeface="Open Sans"/>
                <a:ea typeface="Open Sans"/>
                <a:cs typeface="Open Sans"/>
                <a:sym typeface="Open Sans"/>
              </a:rPr>
              <a:t>M.Tech,(Ph.D) ,</a:t>
            </a:r>
            <a:r>
              <a:rPr lang="en-IN" sz="1800" b="0" i="0" u="sng" strike="noStrike" cap="none">
                <a:solidFill>
                  <a:srgbClr val="262626"/>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Assistant Professor</a:t>
            </a:r>
            <a:r>
              <a:rPr lang="en-IN" sz="1800" b="0" i="0" u="none" strike="noStrike" cap="none">
                <a:solidFill>
                  <a:srgbClr val="262626"/>
                </a:solidFill>
                <a:latin typeface="Open Sans"/>
                <a:ea typeface="Open Sans"/>
                <a:cs typeface="Open Sans"/>
                <a:sym typeface="Open Sans"/>
              </a:rPr>
              <a:t> ,</a:t>
            </a:r>
            <a:r>
              <a:rPr lang="en-IN" sz="1800" b="0" i="0" u="sng" strike="noStrike" cap="none">
                <a:solidFill>
                  <a:srgbClr val="555555"/>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ECE</a:t>
            </a:r>
            <a:endParaRPr sz="1800" b="0" i="0" u="none" strike="noStrike" cap="none">
              <a:solidFill>
                <a:schemeClr val="dk1"/>
              </a:solidFill>
              <a:latin typeface="Calibri"/>
              <a:ea typeface="Calibri"/>
              <a:cs typeface="Calibri"/>
              <a:sym typeface="Calibri"/>
            </a:endParaRPr>
          </a:p>
          <a:p>
            <a:pPr marL="0" marR="0" lvl="0" indent="0" algn="ctr" rtl="0">
              <a:lnSpc>
                <a:spcPct val="107000"/>
              </a:lnSpc>
              <a:spcBef>
                <a:spcPts val="1050"/>
              </a:spcBef>
              <a:spcAft>
                <a:spcPts val="0"/>
              </a:spcAft>
              <a:buNone/>
            </a:pPr>
            <a:endParaRPr sz="2800" b="0" i="0" u="none" strike="noStrike" cap="none">
              <a:solidFill>
                <a:schemeClr val="dk1"/>
              </a:solidFill>
              <a:latin typeface="Arial"/>
              <a:ea typeface="Arial"/>
              <a:cs typeface="Arial"/>
              <a:sym typeface="Arial"/>
            </a:endParaRPr>
          </a:p>
          <a:p>
            <a:pPr marL="0" marR="0" lvl="0" indent="0" algn="ctr" rtl="0">
              <a:lnSpc>
                <a:spcPct val="107000"/>
              </a:lnSpc>
              <a:spcBef>
                <a:spcPts val="800"/>
              </a:spcBef>
              <a:spcAft>
                <a:spcPts val="0"/>
              </a:spcAft>
              <a:buNone/>
            </a:pPr>
            <a:endParaRPr sz="2800" b="0" i="0" u="none" strike="noStrike" cap="none">
              <a:solidFill>
                <a:schemeClr val="dk1"/>
              </a:solidFill>
              <a:latin typeface="Calibri"/>
              <a:ea typeface="Calibri"/>
              <a:cs typeface="Calibri"/>
              <a:sym typeface="Calibri"/>
            </a:endParaRPr>
          </a:p>
        </p:txBody>
      </p:sp>
      <p:sp>
        <p:nvSpPr>
          <p:cNvPr id="85" name="Google Shape;85;p1"/>
          <p:cNvSpPr/>
          <p:nvPr/>
        </p:nvSpPr>
        <p:spPr>
          <a:xfrm>
            <a:off x="2570561" y="2441185"/>
            <a:ext cx="7050877" cy="276999"/>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00"/>
              <a:buFont typeface="Calibri"/>
              <a:buNone/>
            </a:pPr>
            <a:r>
              <a:rPr lang="en-IN" sz="100" b="0" i="0" u="none" strike="noStrike" cap="none">
                <a:solidFill>
                  <a:schemeClr val="dk1"/>
                </a:solidFill>
                <a:latin typeface="Calibri"/>
                <a:ea typeface="Calibri"/>
                <a:cs typeface="Calibri"/>
                <a:sym typeface="Calibri"/>
              </a:rPr>
              <a:t>Under the guidance of</a:t>
            </a:r>
            <a:endParaRPr sz="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Calibri"/>
              <a:buNone/>
            </a:pPr>
            <a:r>
              <a:rPr lang="en-IN" sz="11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pic>
        <p:nvPicPr>
          <p:cNvPr id="86" name="Google Shape;86;p1"/>
          <p:cNvPicPr preferRelativeResize="0"/>
          <p:nvPr/>
        </p:nvPicPr>
        <p:blipFill rotWithShape="1">
          <a:blip r:embed="rId5">
            <a:alphaModFix/>
          </a:blip>
          <a:srcRect/>
          <a:stretch/>
        </p:blipFill>
        <p:spPr>
          <a:xfrm>
            <a:off x="4848752" y="2800315"/>
            <a:ext cx="2297274" cy="1851025"/>
          </a:xfrm>
          <a:prstGeom prst="rect">
            <a:avLst/>
          </a:prstGeom>
          <a:noFill/>
          <a:ln>
            <a:noFill/>
          </a:ln>
        </p:spPr>
      </p:pic>
      <p:sp>
        <p:nvSpPr>
          <p:cNvPr id="87" name="Google Shape;87;p1"/>
          <p:cNvSpPr/>
          <p:nvPr/>
        </p:nvSpPr>
        <p:spPr>
          <a:xfrm>
            <a:off x="2570561" y="3866510"/>
            <a:ext cx="7050877" cy="156966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Calibri"/>
              <a:buNone/>
            </a:pPr>
            <a:endParaRPr sz="16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0" i="0" u="none" strike="noStrike" cap="none">
                <a:solidFill>
                  <a:schemeClr val="dk1"/>
                </a:solidFill>
                <a:latin typeface="Arial"/>
                <a:ea typeface="Arial"/>
                <a:cs typeface="Arial"/>
                <a:sym typeface="Arial"/>
              </a:rPr>
              <a:t>MVGR COLLEGE OF ENGINEERING (A), VIZIANAGARAM          </a:t>
            </a:r>
            <a:endParaRPr/>
          </a:p>
          <a:p>
            <a:pPr marL="0" marR="0" lvl="0" indent="0" algn="ctr" rtl="0">
              <a:lnSpc>
                <a:spcPct val="100000"/>
              </a:lnSpc>
              <a:spcBef>
                <a:spcPts val="0"/>
              </a:spcBef>
              <a:spcAft>
                <a:spcPts val="0"/>
              </a:spcAft>
              <a:buClr>
                <a:schemeClr val="dk1"/>
              </a:buClr>
              <a:buSzPts val="1600"/>
              <a:buFont typeface="Arial"/>
              <a:buNone/>
            </a:pPr>
            <a:r>
              <a:rPr lang="en-IN" sz="1600" b="0" i="0" u="none" strike="noStrike" cap="none">
                <a:solidFill>
                  <a:schemeClr val="dk1"/>
                </a:solidFill>
                <a:latin typeface="Arial"/>
                <a:ea typeface="Arial"/>
                <a:cs typeface="Arial"/>
                <a:sym typeface="Arial"/>
              </a:rPr>
              <a:t>  IV Year B. Tech.</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600"/>
              <a:buFont typeface="Arial"/>
              <a:buNone/>
            </a:pPr>
            <a:r>
              <a:rPr lang="en-IN" sz="1600" b="0" i="0" u="none" strike="noStrike" cap="none">
                <a:solidFill>
                  <a:schemeClr val="dk1"/>
                </a:solidFill>
                <a:latin typeface="Arial"/>
                <a:ea typeface="Arial"/>
                <a:cs typeface="Arial"/>
                <a:sym typeface="Arial"/>
              </a:rPr>
              <a:t>Electronics and Communication</a:t>
            </a:r>
            <a:endParaRPr sz="1800" b="0" i="0" u="none" strike="noStrike" cap="none">
              <a:solidFill>
                <a:schemeClr val="dk1"/>
              </a:solidFill>
              <a:latin typeface="Arial"/>
              <a:ea typeface="Arial"/>
              <a:cs typeface="Arial"/>
              <a:sym typeface="Arial"/>
            </a:endParaRPr>
          </a:p>
        </p:txBody>
      </p:sp>
      <p:sp>
        <p:nvSpPr>
          <p:cNvPr id="88" name="Google Shape;88;p1"/>
          <p:cNvSpPr txBox="1"/>
          <p:nvPr/>
        </p:nvSpPr>
        <p:spPr>
          <a:xfrm>
            <a:off x="2429436" y="4900092"/>
            <a:ext cx="7682700" cy="1200600"/>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IN" sz="2000" b="0" i="0" u="none" strike="noStrike" cap="none">
                <a:solidFill>
                  <a:schemeClr val="dk1"/>
                </a:solidFill>
                <a:latin typeface="Arial"/>
                <a:ea typeface="Arial"/>
                <a:cs typeface="Arial"/>
                <a:sym typeface="Arial"/>
              </a:rPr>
              <a:t> </a:t>
            </a:r>
            <a:endParaRPr sz="1400" b="0" i="0" u="none" strike="noStrike" cap="none">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IN" sz="1800">
                <a:solidFill>
                  <a:schemeClr val="dk1"/>
                </a:solidFill>
                <a:latin typeface="Calibri"/>
                <a:ea typeface="Calibri"/>
                <a:cs typeface="Calibri"/>
                <a:sym typeface="Calibri"/>
              </a:rPr>
              <a:t>V. Teja</a:t>
            </a:r>
            <a:r>
              <a:rPr lang="en-IN" sz="1800" b="0" i="0" u="none" strike="noStrike" cap="none">
                <a:solidFill>
                  <a:schemeClr val="dk1"/>
                </a:solidFill>
                <a:latin typeface="Calibri"/>
                <a:ea typeface="Calibri"/>
                <a:cs typeface="Calibri"/>
                <a:sym typeface="Calibri"/>
              </a:rPr>
              <a:t>                                      T. Tejo Venkatesh                         R.  Jai Chandra</a:t>
            </a:r>
            <a:endParaRPr sz="1400" b="0" i="0" u="none" strike="noStrike" cap="none">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IN" sz="1800">
                <a:solidFill>
                  <a:schemeClr val="dk1"/>
                </a:solidFill>
                <a:latin typeface="Calibri"/>
                <a:ea typeface="Calibri"/>
                <a:cs typeface="Calibri"/>
                <a:sym typeface="Calibri"/>
              </a:rPr>
              <a:t>19335A0415</a:t>
            </a:r>
            <a:r>
              <a:rPr lang="en-IN" sz="1800" b="0" i="0" u="none" strike="noStrike" cap="none">
                <a:solidFill>
                  <a:schemeClr val="dk1"/>
                </a:solidFill>
                <a:latin typeface="Calibri"/>
                <a:ea typeface="Calibri"/>
                <a:cs typeface="Calibri"/>
                <a:sym typeface="Calibri"/>
              </a:rPr>
              <a:t>                           </a:t>
            </a:r>
            <a:r>
              <a:rPr lang="en-IN" sz="1800">
                <a:solidFill>
                  <a:schemeClr val="dk1"/>
                </a:solidFill>
                <a:latin typeface="Calibri"/>
                <a:ea typeface="Calibri"/>
                <a:cs typeface="Calibri"/>
                <a:sym typeface="Calibri"/>
              </a:rPr>
              <a:t>18331A04F6</a:t>
            </a:r>
            <a:r>
              <a:rPr lang="en-IN" sz="1800" b="0" i="0" u="none" strike="noStrike" cap="none">
                <a:solidFill>
                  <a:schemeClr val="dk1"/>
                </a:solidFill>
                <a:latin typeface="Calibri"/>
                <a:ea typeface="Calibri"/>
                <a:cs typeface="Calibri"/>
                <a:sym typeface="Calibri"/>
              </a:rPr>
              <a:t>                                18331A04C3</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12fdddfdc09_0_18"/>
          <p:cNvSpPr txBox="1"/>
          <p:nvPr/>
        </p:nvSpPr>
        <p:spPr>
          <a:xfrm>
            <a:off x="1097280" y="286603"/>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n-IN" sz="4800" b="1">
                <a:solidFill>
                  <a:schemeClr val="dk1"/>
                </a:solidFill>
                <a:latin typeface="Calibri"/>
                <a:ea typeface="Calibri"/>
                <a:cs typeface="Calibri"/>
                <a:sym typeface="Calibri"/>
              </a:rPr>
              <a:t>Contents</a:t>
            </a:r>
            <a:endParaRPr sz="4800">
              <a:solidFill>
                <a:schemeClr val="dk1"/>
              </a:solidFill>
              <a:latin typeface="Calibri"/>
              <a:ea typeface="Calibri"/>
              <a:cs typeface="Calibri"/>
              <a:sym typeface="Calibri"/>
            </a:endParaRPr>
          </a:p>
        </p:txBody>
      </p:sp>
      <p:sp>
        <p:nvSpPr>
          <p:cNvPr id="94" name="Google Shape;94;g12fdddfdc09_0_18"/>
          <p:cNvSpPr txBox="1"/>
          <p:nvPr/>
        </p:nvSpPr>
        <p:spPr>
          <a:xfrm>
            <a:off x="1097280" y="1720840"/>
            <a:ext cx="8046600" cy="5016718"/>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AutoNum type="arabicPeriod"/>
            </a:pPr>
            <a:r>
              <a:rPr lang="en-IN" sz="2000" b="0" i="0" u="none" strike="noStrike" cap="none" dirty="0">
                <a:solidFill>
                  <a:schemeClr val="dk1"/>
                </a:solidFill>
                <a:latin typeface="Calibri"/>
                <a:ea typeface="Calibri"/>
                <a:cs typeface="Calibri"/>
                <a:sym typeface="Calibri"/>
              </a:rPr>
              <a:t>Abstract</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2. System Overview</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3. Hardware requirements</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     a.)Sensors</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     b.)Actuators</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4. Working Of Sensors</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5. Features Of ATmega328</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6.ESP8266 Commands</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7. </a:t>
            </a:r>
            <a:r>
              <a:rPr lang="en-IN" sz="2000" dirty="0" err="1">
                <a:solidFill>
                  <a:schemeClr val="dk1"/>
                </a:solidFill>
                <a:latin typeface="Calibri"/>
                <a:ea typeface="Calibri"/>
                <a:cs typeface="Calibri"/>
                <a:sym typeface="Calibri"/>
              </a:rPr>
              <a:t>Aurdino</a:t>
            </a:r>
            <a:r>
              <a:rPr lang="en-IN" sz="2000" dirty="0">
                <a:solidFill>
                  <a:schemeClr val="dk1"/>
                </a:solidFill>
                <a:latin typeface="Calibri"/>
                <a:ea typeface="Calibri"/>
                <a:cs typeface="Calibri"/>
                <a:sym typeface="Calibri"/>
              </a:rPr>
              <a:t> code</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8. Things Speak Cloud</a:t>
            </a:r>
            <a:endParaRPr>
              <a:solidFill>
                <a:schemeClr val="dk1"/>
              </a:solidFill>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9. Expected Results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10.Things Speak Outputs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11.Results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12.Advantages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13.Reference Papers and Websites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IN" sz="2000" dirty="0">
                <a:solidFill>
                  <a:schemeClr val="dk1"/>
                </a:solidFill>
                <a:latin typeface="Calibri"/>
                <a:ea typeface="Calibri"/>
                <a:cs typeface="Calibri"/>
                <a:sym typeface="Calibri"/>
              </a:rPr>
              <a:t>14.Limitations and Conclusion</a:t>
            </a:r>
            <a:endParaRPr sz="2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p:nvPr/>
        </p:nvSpPr>
        <p:spPr>
          <a:xfrm>
            <a:off x="0" y="156600"/>
            <a:ext cx="12192000" cy="4761900"/>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IN" sz="1800" b="0" i="0" u="none" strike="noStrike" cap="none">
                <a:solidFill>
                  <a:schemeClr val="dk1"/>
                </a:solidFill>
                <a:latin typeface="Calibri"/>
                <a:ea typeface="Calibri"/>
                <a:cs typeface="Calibri"/>
                <a:sym typeface="Calibri"/>
              </a:rPr>
              <a:t> </a:t>
            </a:r>
            <a:endParaRPr sz="1400" b="0" i="0" u="none" strike="noStrike" cap="none">
              <a:solidFill>
                <a:schemeClr val="dk1"/>
              </a:solidFill>
              <a:latin typeface="Calibri"/>
              <a:ea typeface="Calibri"/>
              <a:cs typeface="Calibri"/>
              <a:sym typeface="Calibri"/>
            </a:endParaRPr>
          </a:p>
          <a:p>
            <a:pPr marL="0" marR="0" lvl="0" indent="0" algn="ctr" rtl="0">
              <a:lnSpc>
                <a:spcPct val="107000"/>
              </a:lnSpc>
              <a:spcBef>
                <a:spcPts val="800"/>
              </a:spcBef>
              <a:spcAft>
                <a:spcPts val="0"/>
              </a:spcAft>
              <a:buNone/>
            </a:pPr>
            <a:r>
              <a:rPr lang="en-IN" sz="3200" b="1" i="0" u="sng" strike="noStrike" cap="none">
                <a:solidFill>
                  <a:schemeClr val="dk1"/>
                </a:solidFill>
                <a:latin typeface="Calibri"/>
                <a:ea typeface="Calibri"/>
                <a:cs typeface="Calibri"/>
                <a:sym typeface="Calibri"/>
              </a:rPr>
              <a:t>Abstract</a:t>
            </a:r>
            <a:endParaRPr sz="1400" b="0" i="0" u="none" strike="noStrike" cap="none">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IN" sz="1800" b="0" i="0" u="none" strike="noStrike" cap="none">
                <a:solidFill>
                  <a:schemeClr val="dk1"/>
                </a:solidFill>
                <a:latin typeface="Calibri"/>
                <a:ea typeface="Calibri"/>
                <a:cs typeface="Calibri"/>
                <a:sym typeface="Calibri"/>
              </a:rPr>
              <a:t>The rapid change of climate, population explosion, and reduction of arable lands are calling for new approaches to ensure sustainable agriculture and food supply for the future. Greenhouse agriculture is considered to be a viable alternative and sustainable solution, which can combat the future food crisis by controlling the local environment and growing crops all year round, even in harsh outdoor conditions. However, greenhouse farms persist many challenges for efficient operation and management. The evolving Internet of Things (IoT) technologies, which encompass the smart sensors, devices, network topologies, big data analytics, and intelligent decision is believed to be the solution in addressing the key challenges facing the greenhouse farming, such as greenhouse local climate control, crop growth monitoring, crop harvesting and etc. </a:t>
            </a:r>
            <a:endParaRPr sz="1400" b="0" i="0" u="none" strike="noStrike" cap="none">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IN" sz="1800" b="0" i="0" u="none" strike="noStrike" cap="none">
                <a:solidFill>
                  <a:schemeClr val="dk1"/>
                </a:solidFill>
                <a:latin typeface="Calibri"/>
                <a:ea typeface="Calibri"/>
                <a:cs typeface="Calibri"/>
                <a:sym typeface="Calibri"/>
              </a:rPr>
              <a:t>This work is primarily about the improvement of current agricultural practices by using modern technologies for better yield. This work provides a model of a smart greenhouse, which helps the farmers to carry out the work in a farm automatically without the use of much manual inspection. Greenhouse,  being a closed structure protects the plants from extreme weather conditions namely: wind, hailstorm, ultraviolet radiations, and insect and pest attacks. I</a:t>
            </a:r>
            <a:r>
              <a:rPr lang="en-IN" sz="1800">
                <a:solidFill>
                  <a:schemeClr val="dk1"/>
                </a:solidFill>
                <a:latin typeface="Calibri"/>
                <a:ea typeface="Calibri"/>
                <a:cs typeface="Calibri"/>
                <a:sym typeface="Calibri"/>
              </a:rPr>
              <a:t>n our project here we are using </a:t>
            </a:r>
            <a:r>
              <a:rPr lang="en-IN" sz="1800" b="1">
                <a:solidFill>
                  <a:schemeClr val="dk1"/>
                </a:solidFill>
                <a:latin typeface="Calibri"/>
                <a:ea typeface="Calibri"/>
                <a:cs typeface="Calibri"/>
                <a:sym typeface="Calibri"/>
              </a:rPr>
              <a:t>THINGS SPEAK CLOUD </a:t>
            </a:r>
            <a:r>
              <a:rPr lang="en-IN" sz="1800">
                <a:solidFill>
                  <a:schemeClr val="dk1"/>
                </a:solidFill>
                <a:latin typeface="Calibri"/>
                <a:ea typeface="Calibri"/>
                <a:cs typeface="Calibri"/>
                <a:sym typeface="Calibri"/>
              </a:rPr>
              <a:t>platform to monitor the  growth of the plants.</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12fdddfde56_0_0"/>
          <p:cNvSpPr txBox="1"/>
          <p:nvPr/>
        </p:nvSpPr>
        <p:spPr>
          <a:xfrm>
            <a:off x="0" y="0"/>
            <a:ext cx="8863500" cy="79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IN" sz="4400" b="1" u="sng">
                <a:solidFill>
                  <a:schemeClr val="dk1"/>
                </a:solidFill>
                <a:latin typeface="Aharoni"/>
                <a:ea typeface="Aharoni"/>
                <a:cs typeface="Aharoni"/>
                <a:sym typeface="Aharoni"/>
              </a:rPr>
              <a:t>Introduction</a:t>
            </a:r>
            <a:endParaRPr b="1">
              <a:solidFill>
                <a:schemeClr val="dk1"/>
              </a:solidFill>
              <a:latin typeface="Aharoni"/>
              <a:ea typeface="Aharoni"/>
              <a:cs typeface="Aharoni"/>
              <a:sym typeface="Aharoni"/>
            </a:endParaRPr>
          </a:p>
        </p:txBody>
      </p:sp>
      <p:sp>
        <p:nvSpPr>
          <p:cNvPr id="105" name="Google Shape;105;g12fdddfde56_0_0"/>
          <p:cNvSpPr txBox="1"/>
          <p:nvPr/>
        </p:nvSpPr>
        <p:spPr>
          <a:xfrm>
            <a:off x="152400" y="152400"/>
            <a:ext cx="3000000" cy="461700"/>
          </a:xfrm>
          <a:prstGeom prst="rect">
            <a:avLst/>
          </a:prstGeom>
          <a:noFill/>
          <a:ln>
            <a:noFill/>
          </a:ln>
        </p:spPr>
        <p:txBody>
          <a:bodyPr spcFirstLastPara="1" wrap="square" lIns="91425" tIns="91425" rIns="91425" bIns="91425" anchor="t" anchorCtr="0">
            <a:spAutoFit/>
          </a:bodyPr>
          <a:lstStyle/>
          <a:p>
            <a:pPr marL="228600" lvl="0" indent="-228600" algn="l" rtl="0">
              <a:lnSpc>
                <a:spcPct val="90000"/>
              </a:lnSpc>
              <a:spcBef>
                <a:spcPts val="0"/>
              </a:spcBef>
              <a:spcAft>
                <a:spcPts val="0"/>
              </a:spcAft>
              <a:buClr>
                <a:srgbClr val="C00000"/>
              </a:buClr>
              <a:buSzPts val="2000"/>
              <a:buChar char="•"/>
            </a:pPr>
            <a:endParaRPr/>
          </a:p>
        </p:txBody>
      </p:sp>
      <p:sp>
        <p:nvSpPr>
          <p:cNvPr id="106" name="Google Shape;106;g12fdddfde56_0_0"/>
          <p:cNvSpPr txBox="1"/>
          <p:nvPr/>
        </p:nvSpPr>
        <p:spPr>
          <a:xfrm>
            <a:off x="385200" y="913202"/>
            <a:ext cx="11546700" cy="57981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000"/>
              <a:buChar char="•"/>
            </a:pPr>
            <a:r>
              <a:rPr lang="en-IN" sz="2000" dirty="0">
                <a:solidFill>
                  <a:schemeClr val="dk1"/>
                </a:solidFill>
                <a:latin typeface="Calibri"/>
                <a:ea typeface="Calibri"/>
                <a:cs typeface="Calibri"/>
                <a:sym typeface="Calibri"/>
              </a:rPr>
              <a:t>Greenhouses are the controlled environments where the plants are grown.</a:t>
            </a:r>
            <a:endParaRPr>
              <a:solidFill>
                <a:schemeClr val="dk1"/>
              </a:solidFill>
            </a:endParaRPr>
          </a:p>
          <a:p>
            <a:pPr marL="228600" marR="0" lvl="0" indent="-228600" algn="l" rtl="0">
              <a:lnSpc>
                <a:spcPct val="90000"/>
              </a:lnSpc>
              <a:spcBef>
                <a:spcPts val="1000"/>
              </a:spcBef>
              <a:spcAft>
                <a:spcPts val="0"/>
              </a:spcAft>
              <a:buClr>
                <a:schemeClr val="dk1"/>
              </a:buClr>
              <a:buSzPts val="2000"/>
              <a:buChar char="•"/>
            </a:pPr>
            <a:r>
              <a:rPr lang="en-IN" sz="2000" dirty="0">
                <a:solidFill>
                  <a:schemeClr val="dk1"/>
                </a:solidFill>
                <a:latin typeface="Calibri"/>
                <a:ea typeface="Calibri"/>
                <a:cs typeface="Calibri"/>
                <a:sym typeface="Calibri"/>
              </a:rPr>
              <a:t>to Greenhouse is s structural building with different types of covering material with a glass or a plastic roof artificially create a greenhouse effect.</a:t>
            </a:r>
            <a:endParaRPr>
              <a:solidFill>
                <a:schemeClr val="dk1"/>
              </a:solidFill>
            </a:endParaRPr>
          </a:p>
          <a:p>
            <a:pPr marL="228600" marR="0" lvl="0" indent="-228600" algn="l" rtl="0">
              <a:lnSpc>
                <a:spcPct val="90000"/>
              </a:lnSpc>
              <a:spcBef>
                <a:spcPts val="1000"/>
              </a:spcBef>
              <a:spcAft>
                <a:spcPts val="0"/>
              </a:spcAft>
              <a:buClr>
                <a:schemeClr val="dk1"/>
              </a:buClr>
              <a:buSzPts val="2000"/>
              <a:buFont typeface="Arial"/>
              <a:buChar char="•"/>
            </a:pPr>
            <a:r>
              <a:rPr lang="en-IN" sz="2000" dirty="0">
                <a:solidFill>
                  <a:schemeClr val="dk1"/>
                </a:solidFill>
                <a:latin typeface="Times New Roman" pitchFamily="18" charset="0"/>
                <a:ea typeface="Avenir"/>
                <a:cs typeface="Times New Roman" pitchFamily="18" charset="0"/>
                <a:sym typeface="Avenir"/>
              </a:rPr>
              <a:t>Greenhouse Automation System is the technical approach in which the farmers in the rural areas will be benefited by automatic monitoring and control of greenhouse environment. It replaces the direct supervision of the human.</a:t>
            </a:r>
            <a:endParaRPr>
              <a:solidFill>
                <a:schemeClr val="dk1"/>
              </a:solidFill>
              <a:latin typeface="Times New Roman" pitchFamily="18" charset="0"/>
              <a:cs typeface="Times New Roman" pitchFamily="18" charset="0"/>
            </a:endParaRPr>
          </a:p>
          <a:p>
            <a:pPr marL="228600" marR="0" lvl="0" indent="-228600" algn="l" rtl="0">
              <a:lnSpc>
                <a:spcPct val="90000"/>
              </a:lnSpc>
              <a:spcBef>
                <a:spcPts val="1000"/>
              </a:spcBef>
              <a:spcAft>
                <a:spcPts val="0"/>
              </a:spcAft>
              <a:buClr>
                <a:schemeClr val="dk1"/>
              </a:buClr>
              <a:buSzPts val="2000"/>
              <a:buChar char="•"/>
            </a:pPr>
            <a:r>
              <a:rPr lang="en-IN" sz="2000" dirty="0">
                <a:solidFill>
                  <a:schemeClr val="dk1"/>
                </a:solidFill>
                <a:latin typeface="Times New Roman" pitchFamily="18" charset="0"/>
                <a:cs typeface="Times New Roman" pitchFamily="18" charset="0"/>
              </a:rPr>
              <a:t>we can control and monitor the multiple Greenhouses using IOT from the central location .</a:t>
            </a:r>
            <a:endParaRPr>
              <a:solidFill>
                <a:schemeClr val="dk1"/>
              </a:solidFill>
              <a:latin typeface="Times New Roman" pitchFamily="18" charset="0"/>
              <a:cs typeface="Times New Roman" pitchFamily="18" charset="0"/>
            </a:endParaRPr>
          </a:p>
          <a:p>
            <a:pPr marL="457200" marR="0" lvl="0" indent="0" algn="l" rtl="0">
              <a:lnSpc>
                <a:spcPct val="90000"/>
              </a:lnSpc>
              <a:spcBef>
                <a:spcPts val="1000"/>
              </a:spcBef>
              <a:spcAft>
                <a:spcPts val="0"/>
              </a:spcAft>
              <a:buNone/>
            </a:pPr>
            <a:br>
              <a:rPr lang="en-IN" sz="2000" b="1" dirty="0">
                <a:solidFill>
                  <a:srgbClr val="C00000"/>
                </a:solidFill>
                <a:latin typeface="Arial"/>
                <a:ea typeface="Arial"/>
                <a:cs typeface="Arial"/>
                <a:sym typeface="Arial"/>
              </a:rPr>
            </a:br>
            <a:endParaRPr sz="2000" b="1">
              <a:solidFill>
                <a:srgbClr val="C00000"/>
              </a:solidFill>
              <a:latin typeface="Avenir"/>
              <a:ea typeface="Avenir"/>
              <a:cs typeface="Avenir"/>
              <a:sym typeface="Avenir"/>
            </a:endParaRPr>
          </a:p>
          <a:p>
            <a:pPr marL="228600" marR="0" lvl="0" indent="-101600" algn="l" rtl="0">
              <a:lnSpc>
                <a:spcPct val="90000"/>
              </a:lnSpc>
              <a:spcBef>
                <a:spcPts val="1000"/>
              </a:spcBef>
              <a:spcAft>
                <a:spcPts val="0"/>
              </a:spcAft>
              <a:buClr>
                <a:srgbClr val="000000"/>
              </a:buClr>
              <a:buSzPts val="2000"/>
              <a:buFont typeface="Arial"/>
              <a:buNone/>
            </a:pPr>
            <a:endParaRPr sz="2000" b="1">
              <a:solidFill>
                <a:srgbClr val="C00000"/>
              </a:solidFill>
              <a:latin typeface="Calibri"/>
              <a:ea typeface="Calibri"/>
              <a:cs typeface="Calibri"/>
              <a:sym typeface="Calibri"/>
            </a:endParaRPr>
          </a:p>
          <a:p>
            <a:pPr marL="228600" marR="0" lvl="0" indent="-101600" algn="l" rtl="0">
              <a:lnSpc>
                <a:spcPct val="90000"/>
              </a:lnSpc>
              <a:spcBef>
                <a:spcPts val="1000"/>
              </a:spcBef>
              <a:spcAft>
                <a:spcPts val="0"/>
              </a:spcAft>
              <a:buClr>
                <a:srgbClr val="000000"/>
              </a:buClr>
              <a:buSzPts val="2000"/>
              <a:buFont typeface="Arial"/>
              <a:buNone/>
            </a:pPr>
            <a:endParaRPr sz="2000" b="1">
              <a:solidFill>
                <a:srgbClr val="C00000"/>
              </a:solidFill>
              <a:latin typeface="Calibri"/>
              <a:ea typeface="Calibri"/>
              <a:cs typeface="Calibri"/>
              <a:sym typeface="Calibri"/>
            </a:endParaRPr>
          </a:p>
          <a:p>
            <a:pPr marL="228600" marR="0" lvl="0" indent="-101600" algn="l" rtl="0">
              <a:lnSpc>
                <a:spcPct val="90000"/>
              </a:lnSpc>
              <a:spcBef>
                <a:spcPts val="1000"/>
              </a:spcBef>
              <a:spcAft>
                <a:spcPts val="0"/>
              </a:spcAft>
              <a:buClr>
                <a:srgbClr val="000000"/>
              </a:buClr>
              <a:buSzPts val="2000"/>
              <a:buFont typeface="Arial"/>
              <a:buNone/>
            </a:pPr>
            <a:endParaRPr sz="2000">
              <a:solidFill>
                <a:srgbClr val="C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12fdddfde56_0_8"/>
          <p:cNvSpPr txBox="1"/>
          <p:nvPr/>
        </p:nvSpPr>
        <p:spPr>
          <a:xfrm>
            <a:off x="0" y="0"/>
            <a:ext cx="6786300" cy="8127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IN" sz="4800" b="1">
                <a:solidFill>
                  <a:schemeClr val="dk1"/>
                </a:solidFill>
                <a:latin typeface="Calibri"/>
                <a:ea typeface="Calibri"/>
                <a:cs typeface="Calibri"/>
                <a:sym typeface="Calibri"/>
              </a:rPr>
              <a:t>Why and how?</a:t>
            </a:r>
            <a:endParaRPr sz="4800" b="1">
              <a:solidFill>
                <a:schemeClr val="dk1"/>
              </a:solidFill>
              <a:latin typeface="Calibri"/>
              <a:ea typeface="Calibri"/>
              <a:cs typeface="Calibri"/>
              <a:sym typeface="Calibri"/>
            </a:endParaRPr>
          </a:p>
        </p:txBody>
      </p:sp>
      <p:sp>
        <p:nvSpPr>
          <p:cNvPr id="112" name="Google Shape;112;g12fdddfde56_0_8"/>
          <p:cNvSpPr txBox="1"/>
          <p:nvPr/>
        </p:nvSpPr>
        <p:spPr>
          <a:xfrm>
            <a:off x="483450" y="1253424"/>
            <a:ext cx="10672200" cy="4615500"/>
          </a:xfrm>
          <a:prstGeom prst="rect">
            <a:avLst/>
          </a:prstGeom>
          <a:noFill/>
          <a:ln>
            <a:noFill/>
          </a:ln>
        </p:spPr>
        <p:txBody>
          <a:bodyPr spcFirstLastPara="1" wrap="square" lIns="91425" tIns="45700" rIns="91425" bIns="45700" anchor="t" anchorCtr="0">
            <a:noAutofit/>
          </a:bodyPr>
          <a:lstStyle/>
          <a:p>
            <a:pPr marL="91440" marR="0" lvl="0" indent="-114300" algn="l" rtl="0">
              <a:lnSpc>
                <a:spcPct val="107000"/>
              </a:lnSpc>
              <a:spcBef>
                <a:spcPts val="0"/>
              </a:spcBef>
              <a:spcAft>
                <a:spcPts val="0"/>
              </a:spcAft>
              <a:buClr>
                <a:schemeClr val="dk1"/>
              </a:buClr>
              <a:buSzPts val="1800"/>
              <a:buFont typeface="Calibri"/>
              <a:buChar char=" "/>
            </a:pPr>
            <a:r>
              <a:rPr lang="en-IN" sz="1800">
                <a:solidFill>
                  <a:schemeClr val="dk1"/>
                </a:solidFill>
                <a:latin typeface="Calibri"/>
                <a:ea typeface="Calibri"/>
                <a:cs typeface="Calibri"/>
                <a:sym typeface="Calibri"/>
              </a:rPr>
              <a:t>Greenhouse form an important part of agriculture and horticulture, which  are one of the primary sectors of our country</a:t>
            </a:r>
            <a:endParaRPr>
              <a:solidFill>
                <a:schemeClr val="dk1"/>
              </a:solidFill>
            </a:endParaRPr>
          </a:p>
          <a:p>
            <a:pPr marL="91440" marR="0" lvl="0" indent="-114300" algn="l" rtl="0">
              <a:lnSpc>
                <a:spcPct val="107000"/>
              </a:lnSpc>
              <a:spcBef>
                <a:spcPts val="2000"/>
              </a:spcBef>
              <a:spcAft>
                <a:spcPts val="0"/>
              </a:spcAft>
              <a:buClr>
                <a:schemeClr val="dk1"/>
              </a:buClr>
              <a:buSzPts val="1800"/>
              <a:buFont typeface="Calibri"/>
              <a:buChar char=" "/>
            </a:pPr>
            <a:r>
              <a:rPr lang="en-IN" sz="1800">
                <a:solidFill>
                  <a:schemeClr val="dk1"/>
                </a:solidFill>
                <a:latin typeface="Calibri"/>
                <a:ea typeface="Calibri"/>
                <a:cs typeface="Calibri"/>
                <a:sym typeface="Calibri"/>
              </a:rPr>
              <a:t>They can be used to grow plants under controlled climatic conditions for optimal production .</a:t>
            </a:r>
            <a:endParaRPr>
              <a:solidFill>
                <a:schemeClr val="dk1"/>
              </a:solidFill>
            </a:endParaRPr>
          </a:p>
          <a:p>
            <a:pPr marL="91440" marR="0" lvl="0" indent="0" algn="l" rtl="0">
              <a:lnSpc>
                <a:spcPct val="107000"/>
              </a:lnSpc>
              <a:spcBef>
                <a:spcPts val="2000"/>
              </a:spcBef>
              <a:spcAft>
                <a:spcPts val="0"/>
              </a:spcAft>
              <a:buClr>
                <a:srgbClr val="E48312"/>
              </a:buClr>
              <a:buSzPts val="1800"/>
              <a:buFont typeface="Calibri"/>
              <a:buNone/>
            </a:pPr>
            <a:endParaRPr sz="1800">
              <a:solidFill>
                <a:schemeClr val="dk1"/>
              </a:solidFill>
              <a:latin typeface="Calibri"/>
              <a:ea typeface="Calibri"/>
              <a:cs typeface="Calibri"/>
              <a:sym typeface="Calibri"/>
            </a:endParaRPr>
          </a:p>
          <a:p>
            <a:pPr marL="91440" marR="0" lvl="0" indent="-114300" algn="l" rtl="0">
              <a:lnSpc>
                <a:spcPct val="107000"/>
              </a:lnSpc>
              <a:spcBef>
                <a:spcPts val="2000"/>
              </a:spcBef>
              <a:spcAft>
                <a:spcPts val="0"/>
              </a:spcAft>
              <a:buClr>
                <a:schemeClr val="dk1"/>
              </a:buClr>
              <a:buSzPts val="1800"/>
              <a:buFont typeface="Calibri"/>
              <a:buChar char=" "/>
            </a:pPr>
            <a:r>
              <a:rPr lang="en-IN" sz="1800">
                <a:solidFill>
                  <a:schemeClr val="dk1"/>
                </a:solidFill>
                <a:latin typeface="Calibri"/>
                <a:ea typeface="Calibri"/>
                <a:cs typeface="Calibri"/>
                <a:sym typeface="Calibri"/>
              </a:rPr>
              <a:t>This involves automatic governing and controlling of climatic parameters and hence thereby controlling       and continuously monitoring the growth of a plant</a:t>
            </a:r>
            <a:endParaRPr>
              <a:solidFill>
                <a:schemeClr val="dk1"/>
              </a:solidFill>
            </a:endParaRPr>
          </a:p>
          <a:p>
            <a:pPr marL="91440" marR="0" lvl="0" indent="-114300" algn="l" rtl="0">
              <a:lnSpc>
                <a:spcPct val="107000"/>
              </a:lnSpc>
              <a:spcBef>
                <a:spcPts val="2000"/>
              </a:spcBef>
              <a:spcAft>
                <a:spcPts val="0"/>
              </a:spcAft>
              <a:buClr>
                <a:schemeClr val="dk1"/>
              </a:buClr>
              <a:buSzPts val="1800"/>
              <a:buFont typeface="Calibri"/>
              <a:buChar char=" "/>
            </a:pPr>
            <a:r>
              <a:rPr lang="en-IN" sz="1800">
                <a:solidFill>
                  <a:schemeClr val="dk1"/>
                </a:solidFill>
                <a:latin typeface="Calibri"/>
                <a:ea typeface="Calibri"/>
                <a:cs typeface="Calibri"/>
                <a:sym typeface="Calibri"/>
              </a:rPr>
              <a:t>To monitor the growth of the plant autonomously we need to use some software developed tools such as aurdino, sensors etc…</a:t>
            </a:r>
            <a:endParaRPr>
              <a:solidFill>
                <a:schemeClr val="dk1"/>
              </a:solidFill>
            </a:endParaRPr>
          </a:p>
          <a:p>
            <a:pPr marL="91440" marR="0" lvl="0" indent="0" algn="l" rtl="0">
              <a:lnSpc>
                <a:spcPct val="90000"/>
              </a:lnSpc>
              <a:spcBef>
                <a:spcPts val="2000"/>
              </a:spcBef>
              <a:spcAft>
                <a:spcPts val="0"/>
              </a:spcAft>
              <a:buClr>
                <a:srgbClr val="E48312"/>
              </a:buClr>
              <a:buSzPts val="2000"/>
              <a:buFont typeface="Calibri"/>
              <a:buNone/>
            </a:pPr>
            <a:endParaRPr sz="2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3"/>
          <p:cNvPicPr preferRelativeResize="0"/>
          <p:nvPr/>
        </p:nvPicPr>
        <p:blipFill rotWithShape="1">
          <a:blip r:embed="rId3">
            <a:alphaModFix/>
          </a:blip>
          <a:srcRect/>
          <a:stretch/>
        </p:blipFill>
        <p:spPr>
          <a:xfrm>
            <a:off x="94268" y="114508"/>
            <a:ext cx="11581332" cy="61274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5"/>
          <p:cNvPicPr preferRelativeResize="0"/>
          <p:nvPr/>
        </p:nvPicPr>
        <p:blipFill rotWithShape="1">
          <a:blip r:embed="rId3">
            <a:alphaModFix/>
          </a:blip>
          <a:srcRect/>
          <a:stretch/>
        </p:blipFill>
        <p:spPr>
          <a:xfrm>
            <a:off x="3410175" y="2078788"/>
            <a:ext cx="4549534" cy="1783235"/>
          </a:xfrm>
          <a:prstGeom prst="rect">
            <a:avLst/>
          </a:prstGeom>
          <a:noFill/>
          <a:ln>
            <a:noFill/>
          </a:ln>
        </p:spPr>
      </p:pic>
      <p:sp>
        <p:nvSpPr>
          <p:cNvPr id="123" name="Google Shape;123;p5"/>
          <p:cNvSpPr txBox="1"/>
          <p:nvPr/>
        </p:nvSpPr>
        <p:spPr>
          <a:xfrm>
            <a:off x="2133600" y="287338"/>
            <a:ext cx="10058400" cy="1449387"/>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Calibri"/>
              <a:buNone/>
            </a:pPr>
            <a:r>
              <a:rPr lang="en-IN" sz="4400" b="1" i="0" u="sng" strike="noStrike" cap="none">
                <a:solidFill>
                  <a:schemeClr val="dk1"/>
                </a:solidFill>
                <a:latin typeface="Calibri"/>
                <a:ea typeface="Calibri"/>
                <a:cs typeface="Calibri"/>
                <a:sym typeface="Calibri"/>
              </a:rPr>
              <a:t>System Overview</a:t>
            </a:r>
            <a:endParaRPr/>
          </a:p>
        </p:txBody>
      </p:sp>
      <p:sp>
        <p:nvSpPr>
          <p:cNvPr id="124" name="Google Shape;124;p5"/>
          <p:cNvSpPr txBox="1"/>
          <p:nvPr/>
        </p:nvSpPr>
        <p:spPr>
          <a:xfrm>
            <a:off x="2017817" y="4150298"/>
            <a:ext cx="7334250" cy="1782763"/>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07000"/>
              </a:lnSpc>
              <a:spcBef>
                <a:spcPts val="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Voltage output from sensors will be sent as inputs into the Arduino.</a:t>
            </a:r>
            <a:endParaRPr/>
          </a:p>
          <a:p>
            <a:pPr marL="228600" marR="0" lvl="0" indent="-228600" algn="l" rtl="0">
              <a:lnSpc>
                <a:spcPct val="107000"/>
              </a:lnSpc>
              <a:spcBef>
                <a:spcPts val="1800"/>
              </a:spcBef>
              <a:spcAft>
                <a:spcPts val="0"/>
              </a:spcAft>
              <a:buClr>
                <a:schemeClr val="dk1"/>
              </a:buClr>
              <a:buSzPts val="1800"/>
              <a:buFont typeface="Arial"/>
              <a:buChar char="•"/>
            </a:pPr>
            <a:r>
              <a:rPr lang="en-IN" sz="1800" b="1" i="0" u="none" strike="noStrike" cap="none">
                <a:solidFill>
                  <a:schemeClr val="dk1"/>
                </a:solidFill>
                <a:latin typeface="Calibri"/>
                <a:ea typeface="Calibri"/>
                <a:cs typeface="Calibri"/>
                <a:sym typeface="Calibri"/>
              </a:rPr>
              <a:t>based on the input values arduino output specifies the voltage to turn on or off the device based on the requirement</a:t>
            </a:r>
            <a:endParaRPr/>
          </a:p>
          <a:p>
            <a:pPr marL="228600" marR="0" lvl="0" indent="-50800" algn="l" rtl="0">
              <a:lnSpc>
                <a:spcPct val="90000"/>
              </a:lnSpc>
              <a:spcBef>
                <a:spcPts val="180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12fdddfdc09_0_7"/>
          <p:cNvSpPr txBox="1"/>
          <p:nvPr/>
        </p:nvSpPr>
        <p:spPr>
          <a:xfrm>
            <a:off x="152400" y="152400"/>
            <a:ext cx="7583100" cy="812700"/>
          </a:xfrm>
          <a:prstGeom prst="rect">
            <a:avLst/>
          </a:prstGeom>
          <a:noFill/>
          <a:ln>
            <a:noFill/>
          </a:ln>
        </p:spPr>
        <p:txBody>
          <a:bodyPr spcFirstLastPara="1" wrap="square" lIns="91425" tIns="91425" rIns="91425" bIns="91425" anchor="t" anchorCtr="0">
            <a:spAutoFit/>
          </a:bodyPr>
          <a:lstStyle/>
          <a:p>
            <a:pPr marL="0" lvl="0" indent="0" algn="l" rtl="0">
              <a:lnSpc>
                <a:spcPct val="85000"/>
              </a:lnSpc>
              <a:spcBef>
                <a:spcPts val="0"/>
              </a:spcBef>
              <a:spcAft>
                <a:spcPts val="0"/>
              </a:spcAft>
              <a:buNone/>
            </a:pPr>
            <a:r>
              <a:rPr lang="en-IN" sz="4800">
                <a:solidFill>
                  <a:schemeClr val="dk1"/>
                </a:solidFill>
                <a:latin typeface="Calibri"/>
                <a:ea typeface="Calibri"/>
                <a:cs typeface="Calibri"/>
                <a:sym typeface="Calibri"/>
              </a:rPr>
              <a:t>Hardware requirements</a:t>
            </a:r>
            <a:endParaRPr sz="4800">
              <a:solidFill>
                <a:schemeClr val="dk1"/>
              </a:solidFill>
              <a:latin typeface="Calibri"/>
              <a:ea typeface="Calibri"/>
              <a:cs typeface="Calibri"/>
              <a:sym typeface="Calibri"/>
            </a:endParaRPr>
          </a:p>
        </p:txBody>
      </p:sp>
      <p:sp>
        <p:nvSpPr>
          <p:cNvPr id="130" name="Google Shape;130;g12fdddfdc09_0_7"/>
          <p:cNvSpPr txBox="1"/>
          <p:nvPr/>
        </p:nvSpPr>
        <p:spPr>
          <a:xfrm>
            <a:off x="3885602" y="1199698"/>
            <a:ext cx="7269900" cy="46692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 d.)Actuators</a:t>
            </a:r>
            <a:endParaRPr sz="2000">
              <a:solidFill>
                <a:schemeClr val="dk1"/>
              </a:solidFill>
              <a:latin typeface="Calibri"/>
              <a:ea typeface="Calibri"/>
              <a:cs typeface="Calibri"/>
              <a:sym typeface="Calibri"/>
            </a:endParaRPr>
          </a:p>
          <a:p>
            <a:pPr marL="91440" lvl="0" indent="-127000" algn="l" rtl="0">
              <a:lnSpc>
                <a:spcPct val="107000"/>
              </a:lnSpc>
              <a:spcBef>
                <a:spcPts val="14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1.cooling fan</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2.CFL bulb </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3.water pump</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e.)Ethernet shield</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f.)LCD display</a:t>
            </a:r>
            <a:endParaRPr sz="2000">
              <a:solidFill>
                <a:schemeClr val="dk1"/>
              </a:solidFill>
              <a:latin typeface="Calibri"/>
              <a:ea typeface="Calibri"/>
              <a:cs typeface="Calibri"/>
              <a:sym typeface="Calibri"/>
            </a:endParaRPr>
          </a:p>
          <a:p>
            <a:pPr marL="91440" lvl="0" indent="0" algn="l" rtl="0">
              <a:lnSpc>
                <a:spcPct val="90000"/>
              </a:lnSpc>
              <a:spcBef>
                <a:spcPts val="2000"/>
              </a:spcBef>
              <a:spcAft>
                <a:spcPts val="0"/>
              </a:spcAft>
              <a:buNone/>
            </a:pPr>
            <a:endParaRPr sz="2000">
              <a:solidFill>
                <a:schemeClr val="dk1"/>
              </a:solidFill>
              <a:latin typeface="Calibri"/>
              <a:ea typeface="Calibri"/>
              <a:cs typeface="Calibri"/>
              <a:sym typeface="Calibri"/>
            </a:endParaRPr>
          </a:p>
        </p:txBody>
      </p:sp>
      <p:sp>
        <p:nvSpPr>
          <p:cNvPr id="131" name="Google Shape;131;g12fdddfdc09_0_7"/>
          <p:cNvSpPr txBox="1"/>
          <p:nvPr/>
        </p:nvSpPr>
        <p:spPr>
          <a:xfrm>
            <a:off x="6374550" y="1862225"/>
            <a:ext cx="9783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132" name="Google Shape;132;g12fdddfdc09_0_7"/>
          <p:cNvSpPr txBox="1"/>
          <p:nvPr/>
        </p:nvSpPr>
        <p:spPr>
          <a:xfrm>
            <a:off x="519275" y="1038550"/>
            <a:ext cx="8200800" cy="5192700"/>
          </a:xfrm>
          <a:prstGeom prst="rect">
            <a:avLst/>
          </a:prstGeom>
          <a:noFill/>
          <a:ln>
            <a:noFill/>
          </a:ln>
        </p:spPr>
        <p:txBody>
          <a:bodyPr spcFirstLastPara="1" wrap="square" lIns="0" tIns="45700" rIns="0" bIns="45700" anchor="t" anchorCtr="0">
            <a:normAutofit/>
          </a:bodyPr>
          <a:lstStyle/>
          <a:p>
            <a:pPr marL="91440" lvl="0" indent="-127000" algn="l" rtl="0">
              <a:lnSpc>
                <a:spcPct val="107000"/>
              </a:lnSpc>
              <a:spcBef>
                <a:spcPts val="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a.)Sensors</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1.ambient light sensor</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2.temperature sensor</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3.humidity sensor</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 4.moisture sensor</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b.) power supply circuit</a:t>
            </a:r>
            <a:endParaRPr sz="2000">
              <a:solidFill>
                <a:schemeClr val="dk1"/>
              </a:solidFill>
              <a:latin typeface="Calibri"/>
              <a:ea typeface="Calibri"/>
              <a:cs typeface="Calibri"/>
              <a:sym typeface="Calibri"/>
            </a:endParaRPr>
          </a:p>
          <a:p>
            <a:pPr marL="91440" lvl="0" indent="-127000" algn="l" rtl="0">
              <a:lnSpc>
                <a:spcPct val="107000"/>
              </a:lnSpc>
              <a:spcBef>
                <a:spcPts val="2000"/>
              </a:spcBef>
              <a:spcAft>
                <a:spcPts val="0"/>
              </a:spcAft>
              <a:buClr>
                <a:schemeClr val="dk1"/>
              </a:buClr>
              <a:buSzPts val="2000"/>
              <a:buFont typeface="Calibri"/>
              <a:buChar char=" "/>
            </a:pPr>
            <a:r>
              <a:rPr lang="en-IN" sz="2000">
                <a:solidFill>
                  <a:schemeClr val="dk1"/>
                </a:solidFill>
                <a:latin typeface="Calibri"/>
                <a:ea typeface="Calibri"/>
                <a:cs typeface="Calibri"/>
                <a:sym typeface="Calibri"/>
              </a:rPr>
              <a:t>c.) Microcontroller</a:t>
            </a:r>
            <a:endParaRPr sz="2000">
              <a:solidFill>
                <a:schemeClr val="dk1"/>
              </a:solidFill>
              <a:latin typeface="Calibri"/>
              <a:ea typeface="Calibri"/>
              <a:cs typeface="Calibri"/>
              <a:sym typeface="Calibri"/>
            </a:endParaRPr>
          </a:p>
          <a:p>
            <a:pPr marL="91440" lvl="0" indent="0" algn="l" rtl="0">
              <a:lnSpc>
                <a:spcPct val="107000"/>
              </a:lnSpc>
              <a:spcBef>
                <a:spcPts val="2000"/>
              </a:spcBef>
              <a:spcAft>
                <a:spcPts val="0"/>
              </a:spcAft>
              <a:buNone/>
            </a:pPr>
            <a:endParaRPr sz="2000">
              <a:solidFill>
                <a:schemeClr val="dk1"/>
              </a:solidFill>
              <a:latin typeface="Calibri"/>
              <a:ea typeface="Calibri"/>
              <a:cs typeface="Calibri"/>
              <a:sym typeface="Calibri"/>
            </a:endParaRPr>
          </a:p>
          <a:p>
            <a:pPr marL="91440" lvl="0" indent="0" algn="l" rtl="0">
              <a:lnSpc>
                <a:spcPct val="107000"/>
              </a:lnSpc>
              <a:spcBef>
                <a:spcPts val="2000"/>
              </a:spcBef>
              <a:spcAft>
                <a:spcPts val="0"/>
              </a:spcAft>
              <a:buNone/>
            </a:pPr>
            <a:endParaRPr sz="2000">
              <a:solidFill>
                <a:schemeClr val="dk1"/>
              </a:solidFill>
              <a:latin typeface="Calibri"/>
              <a:ea typeface="Calibri"/>
              <a:cs typeface="Calibri"/>
              <a:sym typeface="Calibri"/>
            </a:endParaRPr>
          </a:p>
          <a:p>
            <a:pPr marL="91440" lvl="0" indent="0" algn="l" rtl="0">
              <a:lnSpc>
                <a:spcPct val="90000"/>
              </a:lnSpc>
              <a:spcBef>
                <a:spcPts val="2000"/>
              </a:spcBef>
              <a:spcAft>
                <a:spcPts val="0"/>
              </a:spcAft>
              <a:buNone/>
            </a:pPr>
            <a:endParaRPr sz="2000">
              <a:solidFill>
                <a:schemeClr val="dk1"/>
              </a:solidFill>
              <a:latin typeface="Calibri"/>
              <a:ea typeface="Calibri"/>
              <a:cs typeface="Calibri"/>
              <a:sym typeface="Calibri"/>
            </a:endParaRPr>
          </a:p>
        </p:txBody>
      </p:sp>
      <p:sp>
        <p:nvSpPr>
          <p:cNvPr id="133" name="Google Shape;133;g12fdddfdc09_0_7"/>
          <p:cNvSpPr txBox="1"/>
          <p:nvPr/>
        </p:nvSpPr>
        <p:spPr>
          <a:xfrm>
            <a:off x="7431000" y="3097750"/>
            <a:ext cx="9783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
        <p:nvSpPr>
          <p:cNvPr id="134" name="Google Shape;134;g12fdddfdc09_0_7"/>
          <p:cNvSpPr txBox="1"/>
          <p:nvPr/>
        </p:nvSpPr>
        <p:spPr>
          <a:xfrm>
            <a:off x="3975125" y="2148725"/>
            <a:ext cx="10195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2"/>
          <p:cNvSpPr txBox="1"/>
          <p:nvPr/>
        </p:nvSpPr>
        <p:spPr>
          <a:xfrm>
            <a:off x="1097280" y="286603"/>
            <a:ext cx="10058400" cy="145075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IN" sz="4400" b="1" u="sng">
                <a:solidFill>
                  <a:schemeClr val="dk1"/>
                </a:solidFill>
                <a:latin typeface="Calibri"/>
                <a:ea typeface="Calibri"/>
                <a:cs typeface="Calibri"/>
                <a:sym typeface="Calibri"/>
              </a:rPr>
              <a:t>Working of sensors</a:t>
            </a:r>
            <a:endParaRPr sz="4400">
              <a:solidFill>
                <a:schemeClr val="dk1"/>
              </a:solidFill>
              <a:latin typeface="Calibri"/>
              <a:ea typeface="Calibri"/>
              <a:cs typeface="Calibri"/>
              <a:sym typeface="Calibri"/>
            </a:endParaRPr>
          </a:p>
        </p:txBody>
      </p:sp>
      <p:sp>
        <p:nvSpPr>
          <p:cNvPr id="140" name="Google Shape;140;p12"/>
          <p:cNvSpPr txBox="1"/>
          <p:nvPr/>
        </p:nvSpPr>
        <p:spPr>
          <a:xfrm>
            <a:off x="1097280" y="1845734"/>
            <a:ext cx="10058400" cy="4023360"/>
          </a:xfrm>
          <a:prstGeom prst="rect">
            <a:avLst/>
          </a:prstGeom>
          <a:noFill/>
          <a:ln>
            <a:noFill/>
          </a:ln>
        </p:spPr>
        <p:txBody>
          <a:bodyPr spcFirstLastPara="1" wrap="square" lIns="91425" tIns="45700" rIns="91425" bIns="45700" anchor="t" anchorCtr="0">
            <a:normAutofit fontScale="25000" lnSpcReduction="20000"/>
          </a:bodyPr>
          <a:lstStyle/>
          <a:p>
            <a:pPr marL="228600" marR="0" lvl="0" indent="-228600" algn="l" rtl="0">
              <a:lnSpc>
                <a:spcPct val="107000"/>
              </a:lnSpc>
              <a:spcBef>
                <a:spcPts val="0"/>
              </a:spcBef>
              <a:spcAft>
                <a:spcPts val="0"/>
              </a:spcAft>
              <a:buClr>
                <a:schemeClr val="dk1"/>
              </a:buClr>
              <a:buSzPct val="100000"/>
              <a:buFont typeface="Arial"/>
              <a:buChar char="•"/>
            </a:pPr>
            <a:r>
              <a:rPr lang="en-IN" sz="7200" b="1" u="sng">
                <a:solidFill>
                  <a:schemeClr val="dk1"/>
                </a:solidFill>
                <a:latin typeface="Calibri"/>
                <a:ea typeface="Calibri"/>
                <a:cs typeface="Calibri"/>
                <a:sym typeface="Calibri"/>
              </a:rPr>
              <a:t>Moisture sensor:</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Soil moisture sensor will check the water present in the soil.</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If there is no proper water in the soil, the moisture sensor sends signal to the water pump as a result of which the pump gets activated and pump the water from the tank into the soil.</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With help of a threshold value of the water level present in the soil the pump is automatically turned off.</a:t>
            </a:r>
            <a:endParaRPr/>
          </a:p>
          <a:p>
            <a:pPr marL="228600" marR="0" lvl="0" indent="-228600" algn="l" rtl="0">
              <a:lnSpc>
                <a:spcPct val="107000"/>
              </a:lnSpc>
              <a:spcBef>
                <a:spcPts val="1800"/>
              </a:spcBef>
              <a:spcAft>
                <a:spcPts val="0"/>
              </a:spcAft>
              <a:buClr>
                <a:schemeClr val="dk1"/>
              </a:buClr>
              <a:buSzPct val="100000"/>
              <a:buFont typeface="Arial"/>
              <a:buChar char="•"/>
            </a:pPr>
            <a:r>
              <a:rPr lang="en-IN" sz="7200" b="1" u="sng">
                <a:solidFill>
                  <a:schemeClr val="dk1"/>
                </a:solidFill>
                <a:latin typeface="Calibri"/>
                <a:ea typeface="Calibri"/>
                <a:cs typeface="Calibri"/>
                <a:sym typeface="Calibri"/>
              </a:rPr>
              <a:t>Humidity sensor:</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Humidity sensor is used to check the humidity of the air in the greenhouse.</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If humidity exceeds the limit then an exhaust fan will switch on with the help of a relay to throw the humid air out of the greenhouse to maintain a suitable environment for the plants.</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 </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 </a:t>
            </a:r>
            <a:endParaRPr/>
          </a:p>
          <a:p>
            <a:pPr marL="228600" marR="0" lvl="0" indent="-228600" algn="l" rtl="0">
              <a:lnSpc>
                <a:spcPct val="107000"/>
              </a:lnSpc>
              <a:spcBef>
                <a:spcPts val="1800"/>
              </a:spcBef>
              <a:spcAft>
                <a:spcPts val="0"/>
              </a:spcAft>
              <a:buClr>
                <a:schemeClr val="dk1"/>
              </a:buClr>
              <a:buSzPct val="100000"/>
              <a:buFont typeface="Arial"/>
              <a:buChar char="•"/>
            </a:pPr>
            <a:r>
              <a:rPr lang="en-IN" sz="1800">
                <a:solidFill>
                  <a:schemeClr val="dk1"/>
                </a:solidFill>
                <a:latin typeface="Calibri"/>
                <a:ea typeface="Calibri"/>
                <a:cs typeface="Calibri"/>
                <a:sym typeface="Calibri"/>
              </a:rPr>
              <a:t> </a:t>
            </a:r>
            <a:endParaRPr/>
          </a:p>
          <a:p>
            <a:pPr marL="228600" marR="0" lvl="0" indent="-184150" algn="l" rtl="0">
              <a:lnSpc>
                <a:spcPct val="90000"/>
              </a:lnSpc>
              <a:spcBef>
                <a:spcPts val="1800"/>
              </a:spcBef>
              <a:spcAft>
                <a:spcPts val="0"/>
              </a:spcAft>
              <a:buClr>
                <a:schemeClr val="dk1"/>
              </a:buClr>
              <a:buSzPct val="100000"/>
              <a:buFont typeface="Arial"/>
              <a:buNone/>
            </a:pPr>
            <a:endParaRPr sz="2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3"/>
          <p:cNvSpPr txBox="1"/>
          <p:nvPr/>
        </p:nvSpPr>
        <p:spPr>
          <a:xfrm>
            <a:off x="1097280" y="286603"/>
            <a:ext cx="10058400" cy="145075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IN" sz="4400" b="1" u="sng">
                <a:solidFill>
                  <a:schemeClr val="dk1"/>
                </a:solidFill>
                <a:latin typeface="Calibri"/>
                <a:ea typeface="Calibri"/>
                <a:cs typeface="Calibri"/>
                <a:sym typeface="Calibri"/>
              </a:rPr>
              <a:t>Working of sensors</a:t>
            </a:r>
            <a:endParaRPr sz="4400" b="1" u="sng">
              <a:solidFill>
                <a:schemeClr val="dk1"/>
              </a:solidFill>
              <a:latin typeface="Calibri"/>
              <a:ea typeface="Calibri"/>
              <a:cs typeface="Calibri"/>
              <a:sym typeface="Calibri"/>
            </a:endParaRPr>
          </a:p>
        </p:txBody>
      </p:sp>
      <p:sp>
        <p:nvSpPr>
          <p:cNvPr id="146" name="Google Shape;146;p13"/>
          <p:cNvSpPr txBox="1"/>
          <p:nvPr/>
        </p:nvSpPr>
        <p:spPr>
          <a:xfrm>
            <a:off x="1097280" y="1845734"/>
            <a:ext cx="10058400" cy="4023360"/>
          </a:xfrm>
          <a:prstGeom prst="rect">
            <a:avLst/>
          </a:prstGeom>
          <a:noFill/>
          <a:ln>
            <a:noFill/>
          </a:ln>
        </p:spPr>
        <p:txBody>
          <a:bodyPr spcFirstLastPara="1" wrap="square" lIns="91425" tIns="45700" rIns="91425" bIns="45700" anchor="t" anchorCtr="0">
            <a:normAutofit fontScale="92500"/>
          </a:bodyPr>
          <a:lstStyle/>
          <a:p>
            <a:pPr marL="228600" marR="0" lvl="0" indent="-228631" algn="l" rtl="0">
              <a:lnSpc>
                <a:spcPct val="107000"/>
              </a:lnSpc>
              <a:spcBef>
                <a:spcPts val="0"/>
              </a:spcBef>
              <a:spcAft>
                <a:spcPts val="0"/>
              </a:spcAft>
              <a:buClr>
                <a:schemeClr val="dk1"/>
              </a:buClr>
              <a:buSzPct val="100000"/>
              <a:buFont typeface="Arial"/>
              <a:buChar char="•"/>
            </a:pPr>
            <a:r>
              <a:rPr lang="en-IN" sz="1900" b="1" u="sng">
                <a:solidFill>
                  <a:schemeClr val="dk1"/>
                </a:solidFill>
                <a:latin typeface="Calibri"/>
                <a:ea typeface="Calibri"/>
                <a:cs typeface="Calibri"/>
                <a:sym typeface="Calibri"/>
              </a:rPr>
              <a:t>Temperature sensor :</a:t>
            </a:r>
            <a:endParaRPr/>
          </a:p>
          <a:p>
            <a:pPr marL="228600" marR="0" lvl="0" indent="-228600" algn="l" rtl="0">
              <a:lnSpc>
                <a:spcPct val="107000"/>
              </a:lnSpc>
              <a:spcBef>
                <a:spcPts val="1800"/>
              </a:spcBef>
              <a:spcAft>
                <a:spcPts val="0"/>
              </a:spcAft>
              <a:buClr>
                <a:schemeClr val="dk1"/>
              </a:buClr>
              <a:buSzPct val="100000"/>
              <a:buFont typeface="Arial"/>
              <a:buChar char="•"/>
            </a:pPr>
            <a:r>
              <a:rPr lang="en-IN" sz="1800">
                <a:solidFill>
                  <a:schemeClr val="dk1"/>
                </a:solidFill>
                <a:latin typeface="Calibri"/>
                <a:ea typeface="Calibri"/>
                <a:cs typeface="Calibri"/>
                <a:sym typeface="Calibri"/>
              </a:rPr>
              <a:t>If the temperature exceeds beyond the limit set then a fan will be automatically switched on as a coolant to reduce the temperature.</a:t>
            </a:r>
            <a:endParaRPr/>
          </a:p>
          <a:p>
            <a:pPr marL="228600" marR="0" lvl="0" indent="-228600" algn="l" rtl="0">
              <a:lnSpc>
                <a:spcPct val="107000"/>
              </a:lnSpc>
              <a:spcBef>
                <a:spcPts val="1800"/>
              </a:spcBef>
              <a:spcAft>
                <a:spcPts val="0"/>
              </a:spcAft>
              <a:buClr>
                <a:schemeClr val="dk1"/>
              </a:buClr>
              <a:buSzPct val="100000"/>
              <a:buFont typeface="Arial"/>
              <a:buChar char="•"/>
            </a:pPr>
            <a:r>
              <a:rPr lang="en-IN" sz="1800">
                <a:solidFill>
                  <a:schemeClr val="dk1"/>
                </a:solidFill>
                <a:latin typeface="Calibri"/>
                <a:ea typeface="Calibri"/>
                <a:cs typeface="Calibri"/>
                <a:sym typeface="Calibri"/>
              </a:rPr>
              <a:t>When it reaches the desired temperature the fan will be switched off automatically with the help of a relay.</a:t>
            </a:r>
            <a:endParaRPr/>
          </a:p>
          <a:p>
            <a:pPr marL="228600" marR="0" lvl="0" indent="-228631" algn="l" rtl="0">
              <a:lnSpc>
                <a:spcPct val="107000"/>
              </a:lnSpc>
              <a:spcBef>
                <a:spcPts val="1800"/>
              </a:spcBef>
              <a:spcAft>
                <a:spcPts val="0"/>
              </a:spcAft>
              <a:buClr>
                <a:schemeClr val="dk1"/>
              </a:buClr>
              <a:buSzPct val="100000"/>
              <a:buFont typeface="Arial"/>
              <a:buChar char="•"/>
            </a:pPr>
            <a:r>
              <a:rPr lang="en-IN" sz="1900" b="1" u="sng">
                <a:solidFill>
                  <a:schemeClr val="dk1"/>
                </a:solidFill>
                <a:latin typeface="Calibri"/>
                <a:ea typeface="Calibri"/>
                <a:cs typeface="Calibri"/>
                <a:sym typeface="Calibri"/>
              </a:rPr>
              <a:t>Light sensor :</a:t>
            </a:r>
            <a:endParaRPr/>
          </a:p>
          <a:p>
            <a:pPr marL="228600" marR="0" lvl="0" indent="-228600" algn="l" rtl="0">
              <a:lnSpc>
                <a:spcPct val="107000"/>
              </a:lnSpc>
              <a:spcBef>
                <a:spcPts val="1800"/>
              </a:spcBef>
              <a:spcAft>
                <a:spcPts val="0"/>
              </a:spcAft>
              <a:buClr>
                <a:schemeClr val="dk1"/>
              </a:buClr>
              <a:buSzPct val="100000"/>
              <a:buFont typeface="Arial"/>
              <a:buChar char="•"/>
            </a:pPr>
            <a:r>
              <a:rPr lang="en-IN" sz="1800">
                <a:solidFill>
                  <a:schemeClr val="dk1"/>
                </a:solidFill>
                <a:latin typeface="Calibri"/>
                <a:ea typeface="Calibri"/>
                <a:cs typeface="Calibri"/>
                <a:sym typeface="Calibri"/>
              </a:rPr>
              <a:t> Light sensor will send the light and set an optimum temperature in the greenhouse for the plants.</a:t>
            </a:r>
            <a:endParaRPr/>
          </a:p>
          <a:p>
            <a:pPr marL="228600" marR="0" lvl="0" indent="-228600" algn="l" rtl="0">
              <a:lnSpc>
                <a:spcPct val="107000"/>
              </a:lnSpc>
              <a:spcBef>
                <a:spcPts val="1800"/>
              </a:spcBef>
              <a:spcAft>
                <a:spcPts val="0"/>
              </a:spcAft>
              <a:buClr>
                <a:schemeClr val="dk1"/>
              </a:buClr>
              <a:buSzPct val="100000"/>
              <a:buFont typeface="Arial"/>
              <a:buChar char="•"/>
            </a:pPr>
            <a:r>
              <a:rPr lang="en-IN" sz="1800">
                <a:solidFill>
                  <a:schemeClr val="dk1"/>
                </a:solidFill>
                <a:latin typeface="Calibri"/>
                <a:ea typeface="Calibri"/>
                <a:cs typeface="Calibri"/>
                <a:sym typeface="Calibri"/>
              </a:rPr>
              <a:t>An artificial light will be switched on automatically by the light sensor with the help of an relay and also switched off automatically.</a:t>
            </a:r>
            <a:endParaRPr/>
          </a:p>
          <a:p>
            <a:pPr marL="228600" marR="0" lvl="0" indent="-228600" algn="l" rtl="0">
              <a:lnSpc>
                <a:spcPct val="107000"/>
              </a:lnSpc>
              <a:spcBef>
                <a:spcPts val="1800"/>
              </a:spcBef>
              <a:spcAft>
                <a:spcPts val="0"/>
              </a:spcAft>
              <a:buClr>
                <a:schemeClr val="dk1"/>
              </a:buClr>
              <a:buSzPct val="100000"/>
              <a:buFont typeface="Arial"/>
              <a:buChar char="•"/>
            </a:pPr>
            <a:r>
              <a:rPr lang="en-IN" sz="1800">
                <a:solidFill>
                  <a:schemeClr val="dk1"/>
                </a:solidFill>
                <a:latin typeface="Calibri"/>
                <a:ea typeface="Calibri"/>
                <a:cs typeface="Calibri"/>
                <a:sym typeface="Calibri"/>
              </a:rPr>
              <a:t>the light sensor is involved to resemble  the action of sunlight</a:t>
            </a:r>
            <a:endParaRPr/>
          </a:p>
          <a:p>
            <a:pPr marL="228600" marR="0" lvl="0" indent="-64135" algn="l" rtl="0">
              <a:lnSpc>
                <a:spcPct val="90000"/>
              </a:lnSpc>
              <a:spcBef>
                <a:spcPts val="1800"/>
              </a:spcBef>
              <a:spcAft>
                <a:spcPts val="0"/>
              </a:spcAft>
              <a:buClr>
                <a:schemeClr val="dk1"/>
              </a:buClr>
              <a:buSzPct val="100000"/>
              <a:buFont typeface="Arial"/>
              <a:buNone/>
            </a:pPr>
            <a:endParaRPr sz="2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4"/>
          <p:cNvPicPr preferRelativeResize="0"/>
          <p:nvPr/>
        </p:nvPicPr>
        <p:blipFill rotWithShape="1">
          <a:blip r:embed="rId3">
            <a:alphaModFix/>
          </a:blip>
          <a:srcRect/>
          <a:stretch/>
        </p:blipFill>
        <p:spPr>
          <a:xfrm>
            <a:off x="626700" y="179050"/>
            <a:ext cx="10510825" cy="64548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6"/>
          <p:cNvSpPr txBox="1"/>
          <p:nvPr/>
        </p:nvSpPr>
        <p:spPr>
          <a:xfrm>
            <a:off x="0" y="127093"/>
            <a:ext cx="11878234" cy="5302349"/>
          </a:xfrm>
          <a:prstGeom prst="rect">
            <a:avLst/>
          </a:prstGeom>
          <a:noFill/>
          <a:ln>
            <a:noFill/>
          </a:ln>
        </p:spPr>
        <p:txBody>
          <a:bodyPr spcFirstLastPara="1" wrap="square" lIns="91425" tIns="45700" rIns="91425" bIns="45700" anchor="t" anchorCtr="0">
            <a:spAutoFit/>
          </a:bodyPr>
          <a:lstStyle/>
          <a:p>
            <a:pPr marL="152400" marR="0" lvl="0" indent="0" algn="l" rtl="0">
              <a:spcBef>
                <a:spcPts val="0"/>
              </a:spcBef>
              <a:spcAft>
                <a:spcPts val="0"/>
              </a:spcAft>
              <a:buNone/>
            </a:pPr>
            <a:r>
              <a:rPr lang="en-IN" sz="2000" b="1" i="0" u="none" strike="noStrike" cap="none">
                <a:solidFill>
                  <a:schemeClr val="dk1"/>
                </a:solidFill>
                <a:latin typeface="Times New Roman"/>
                <a:ea typeface="Times New Roman"/>
                <a:cs typeface="Times New Roman"/>
                <a:sym typeface="Times New Roman"/>
              </a:rPr>
              <a:t>Features of ATMega328</a:t>
            </a:r>
            <a:r>
              <a:rPr lang="en-IN" sz="20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153750"/>
              </a:lnSpc>
              <a:spcBef>
                <a:spcPts val="0"/>
              </a:spcBef>
              <a:spcAft>
                <a:spcPts val="0"/>
              </a:spcAft>
              <a:buNone/>
            </a:pPr>
            <a:r>
              <a:rPr lang="en-IN" sz="1200" b="0" i="0" u="none" strike="noStrike" cap="none">
                <a:solidFill>
                  <a:schemeClr val="dk1"/>
                </a:solidFill>
                <a:latin typeface="Times New Roman"/>
                <a:ea typeface="Times New Roman"/>
                <a:cs typeface="Times New Roman"/>
                <a:sym typeface="Times New Roman"/>
              </a:rPr>
              <a:t> </a:t>
            </a:r>
            <a:endParaRPr sz="1600" b="0" i="0" u="none" strike="noStrike" cap="none">
              <a:solidFill>
                <a:schemeClr val="dk1"/>
              </a:solidFill>
              <a:latin typeface="Times New Roman"/>
              <a:ea typeface="Times New Roman"/>
              <a:cs typeface="Times New Roman"/>
              <a:sym typeface="Times New Roman"/>
            </a:endParaRPr>
          </a:p>
          <a:p>
            <a:pPr marL="152400" marR="342900" lvl="0" indent="0" algn="just" rtl="0">
              <a:lnSpc>
                <a:spcPct val="148000"/>
              </a:lnSpc>
              <a:spcBef>
                <a:spcPts val="0"/>
              </a:spcBef>
              <a:spcAft>
                <a:spcPts val="0"/>
              </a:spcAft>
              <a:buNone/>
            </a:pPr>
            <a:r>
              <a:rPr lang="en-IN" sz="1800" b="0" i="0" u="none" strike="noStrike" cap="none">
                <a:solidFill>
                  <a:schemeClr val="dk1"/>
                </a:solidFill>
                <a:latin typeface="Times New Roman"/>
                <a:ea typeface="Times New Roman"/>
                <a:cs typeface="Times New Roman"/>
                <a:sym typeface="Times New Roman"/>
              </a:rPr>
              <a:t>Microcontroller can be described as a computer embedded on a rather small circuit board. To describe the function of a microcontroller more precisely, it is a single chip that can perform various calculations and tasks, and send/receive signals from other devices via the available pins. Precisely what tasks and communication with the world it does, is what is governed by what instructions we give to the Microcontroller. It is this job of telling the chip what to do, is what we refer to as programming on it.</a:t>
            </a: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8333"/>
              </a:lnSpc>
              <a:spcBef>
                <a:spcPts val="0"/>
              </a:spcBef>
              <a:spcAft>
                <a:spcPts val="0"/>
              </a:spcAft>
              <a:buNone/>
            </a:pPr>
            <a:r>
              <a:rPr lang="en-IN" sz="1200" b="0" i="0" u="none" strike="noStrike" cap="none">
                <a:solidFill>
                  <a:schemeClr val="dk1"/>
                </a:solidFill>
                <a:latin typeface="Times New Roman"/>
                <a:ea typeface="Times New Roman"/>
                <a:cs typeface="Times New Roman"/>
                <a:sym typeface="Times New Roman"/>
              </a:rPr>
              <a:t> </a:t>
            </a:r>
            <a:endParaRPr sz="1600" b="0" i="0" u="none" strike="noStrike" cap="none">
              <a:solidFill>
                <a:schemeClr val="dk1"/>
              </a:solidFill>
              <a:latin typeface="Times New Roman"/>
              <a:ea typeface="Times New Roman"/>
              <a:cs typeface="Times New Roman"/>
              <a:sym typeface="Times New Roman"/>
            </a:endParaRPr>
          </a:p>
          <a:p>
            <a:pPr marL="152400" marR="342900" lvl="0" indent="457835" algn="just" rtl="0">
              <a:lnSpc>
                <a:spcPct val="149000"/>
              </a:lnSpc>
              <a:spcBef>
                <a:spcPts val="0"/>
              </a:spcBef>
              <a:spcAft>
                <a:spcPts val="0"/>
              </a:spcAft>
              <a:buNone/>
            </a:pPr>
            <a:r>
              <a:rPr lang="en-IN" sz="1800" b="0" i="0" u="none" strike="noStrike" cap="none">
                <a:solidFill>
                  <a:schemeClr val="dk1"/>
                </a:solidFill>
                <a:latin typeface="Times New Roman"/>
                <a:ea typeface="Times New Roman"/>
                <a:cs typeface="Times New Roman"/>
                <a:sym typeface="Times New Roman"/>
              </a:rPr>
              <a:t>However, the uC by itself cannot accomplish much; it needs several external inputs: power, for one; a steady clock signal, for another. Also, the job of programming it has to be accomplished by an external circuit. So typically, a uC is used along with a circuit which provides these things to it; this combination is called a microcontroller board. The Arduino Uno that you have received is one such microcontroller board. The actual microcontroller at its heart is the chip called </a:t>
            </a:r>
            <a:r>
              <a:rPr lang="en-IN" sz="1800" b="1" i="0" u="none" strike="noStrike" cap="none">
                <a:solidFill>
                  <a:schemeClr val="dk1"/>
                </a:solidFill>
                <a:latin typeface="Times New Roman"/>
                <a:ea typeface="Times New Roman"/>
                <a:cs typeface="Times New Roman"/>
                <a:sym typeface="Times New Roman"/>
              </a:rPr>
              <a:t>Atmega328</a:t>
            </a:r>
            <a:r>
              <a:rPr lang="en-IN" sz="1800" b="0" i="0" u="none" strike="noStrike" cap="none">
                <a:solidFill>
                  <a:schemeClr val="dk1"/>
                </a:solidFill>
                <a:latin typeface="Times New Roman"/>
                <a:ea typeface="Times New Roman"/>
                <a:cs typeface="Times New Roman"/>
                <a:sym typeface="Times New Roman"/>
              </a:rPr>
              <a:t>. The advantages that Arduino offers over other microcontroller boards are largely in terms of reliability of the circuit hardware as well as the ease of programming and using it.</a:t>
            </a: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83333"/>
              </a:lnSpc>
              <a:spcBef>
                <a:spcPts val="0"/>
              </a:spcBef>
              <a:spcAft>
                <a:spcPts val="0"/>
              </a:spcAft>
              <a:buNone/>
            </a:pPr>
            <a:r>
              <a:rPr lang="en-IN" sz="1200" b="0" i="0" u="none" strike="noStrike" cap="none">
                <a:solidFill>
                  <a:schemeClr val="dk1"/>
                </a:solidFill>
                <a:latin typeface="Times New Roman"/>
                <a:ea typeface="Times New Roman"/>
                <a:cs typeface="Times New Roman"/>
                <a:sym typeface="Times New Roman"/>
              </a:rPr>
              <a:t> </a:t>
            </a:r>
            <a:endParaRPr sz="16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p:nvPr/>
        </p:nvSpPr>
        <p:spPr>
          <a:xfrm>
            <a:off x="519953" y="492169"/>
            <a:ext cx="6096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0" i="0" u="none" strike="noStrike" cap="none">
                <a:solidFill>
                  <a:schemeClr val="dk1"/>
                </a:solidFill>
                <a:latin typeface="Calibri"/>
                <a:ea typeface="Calibri"/>
                <a:cs typeface="Calibri"/>
                <a:sym typeface="Calibri"/>
              </a:rPr>
              <a:t>Commands for using ESP8266 </a:t>
            </a:r>
            <a:endParaRPr/>
          </a:p>
        </p:txBody>
      </p:sp>
      <p:sp>
        <p:nvSpPr>
          <p:cNvPr id="162" name="Google Shape;162;p7"/>
          <p:cNvSpPr txBox="1"/>
          <p:nvPr/>
        </p:nvSpPr>
        <p:spPr>
          <a:xfrm>
            <a:off x="286870" y="1048889"/>
            <a:ext cx="11707906" cy="480131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alibri"/>
              <a:buAutoNum type="arabicPeriod"/>
            </a:pPr>
            <a:r>
              <a:rPr lang="en-IN" sz="1800">
                <a:solidFill>
                  <a:schemeClr val="dk1"/>
                </a:solidFill>
                <a:latin typeface="Calibri"/>
                <a:ea typeface="Calibri"/>
                <a:cs typeface="Calibri"/>
                <a:sym typeface="Calibri"/>
              </a:rPr>
              <a:t>Ensure AT commands are received correctly (the AT seems not to be case sensitive but the rest of any command is case sensitive):</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AT Response:</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OK</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2.  Ensure the module is in a known state by issuing a reset command: </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Using GNU Screen </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First Commands AT+RST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3.  Check the firmware version: </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AT+GMR </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The stock firmware produces this output: 00160901</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4. Enable the module to act as both a “Station” and an “Access Point”: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AT+CWMODE=3 </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Response: OK</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5. List surrounding WiFi networks</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6. Join a suitable WiFi access point: </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AT+CWJAP="","" </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You should get an OK response</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8"/>
          <p:cNvSpPr txBox="1"/>
          <p:nvPr/>
        </p:nvSpPr>
        <p:spPr>
          <a:xfrm>
            <a:off x="9144000" y="292731"/>
            <a:ext cx="2632364"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Serial.print("AT+CWJAP=\"");</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Serial.print(ssid);</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Serial.print("\",\"");</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Serial.print(password);</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Serial.println("\"");</a:t>
            </a:r>
            <a:endParaRPr/>
          </a:p>
          <a:p>
            <a:pPr marL="0" marR="0" lvl="0" indent="0" algn="l" rtl="0">
              <a:spcBef>
                <a:spcPts val="0"/>
              </a:spcBef>
              <a:spcAft>
                <a:spcPts val="0"/>
              </a:spcAft>
              <a:buNone/>
            </a:pPr>
            <a:r>
              <a:rPr lang="en-IN" sz="1800">
                <a:solidFill>
                  <a:schemeClr val="dk1"/>
                </a:solidFill>
                <a:latin typeface="Calibri"/>
                <a:ea typeface="Calibri"/>
                <a:cs typeface="Calibri"/>
                <a:sym typeface="Calibri"/>
              </a:rPr>
              <a:t>  if(check((char*)"OK",300))</a:t>
            </a:r>
            <a:endParaRPr/>
          </a:p>
        </p:txBody>
      </p:sp>
      <p:sp>
        <p:nvSpPr>
          <p:cNvPr id="168" name="Google Shape;168;p8"/>
          <p:cNvSpPr txBox="1"/>
          <p:nvPr/>
        </p:nvSpPr>
        <p:spPr>
          <a:xfrm>
            <a:off x="-31377" y="0"/>
            <a:ext cx="12254753" cy="1129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a:solidFill>
                  <a:schemeClr val="dk1"/>
                </a:solidFill>
                <a:latin typeface="Calibri"/>
                <a:ea typeface="Calibri"/>
                <a:cs typeface="Calibri"/>
                <a:sym typeface="Calibri"/>
              </a:rPr>
              <a:t>DHT.read11(dht_dpin);</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lcd.clear();</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lcd.setCursor(0,0);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lcd.print("H=");</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lcd.print(humidity=DHT.humidity);</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lcd.print("%");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lcd.setCursor(6,0);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lcd.print("T=");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lcd.print(temperature=DHT.temperature);</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 lcd.write(1);</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//lcd.print("C");</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delay(100);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//val = analogRead(1);float T=( val/1024.0)*5000; TEMP= T/10;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//lcd.setCursor(0,0);lcd.print("TEMP:");lcd.setCursor(6,0);lcd.print(TEMP);delay(50);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 gas = analogRead(0); TEMP1=( gas/1024.0)*5000;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lcd.setCursor(11,0);lcd.print("G=");//lcd.setCursor(6,1);</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lcd.print(TEMP1);delay(50);*/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if(digitalRead(soil) == 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lcd.setCursor(0, 1);lcd.print("WET LAND");</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ecg = 1;</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upload = 1;</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else</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ecg = 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delay(500);    </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upload = 1;</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if(digitalRead(light) == 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lcd.setCursor(0, 1);lcd.print("LIGHT DETECTED");</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fire1 = 1;</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upload = 1;</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else</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fire1 = 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count++;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if(upload == 1||count == 2)</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count =0;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upload = 0;</a:t>
            </a:r>
            <a:endParaRPr/>
          </a:p>
          <a:p>
            <a:pPr marL="0" marR="0" lvl="0" indent="0" algn="l" rtl="0">
              <a:spcBef>
                <a:spcPts val="0"/>
              </a:spcBef>
              <a:spcAft>
                <a:spcPts val="0"/>
              </a:spcAft>
              <a:buNone/>
            </a:pPr>
            <a:r>
              <a:rPr lang="en-IN" sz="1400">
                <a:solidFill>
                  <a:schemeClr val="dk1"/>
                </a:solidFill>
                <a:latin typeface="Calibri"/>
                <a:ea typeface="Calibri"/>
                <a:cs typeface="Calibri"/>
                <a:sym typeface="Calibri"/>
              </a:rPr>
              <a:t>  upload1();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9"/>
          <p:cNvPicPr preferRelativeResize="0"/>
          <p:nvPr/>
        </p:nvPicPr>
        <p:blipFill rotWithShape="1">
          <a:blip r:embed="rId3">
            <a:alphaModFix/>
          </a:blip>
          <a:srcRect/>
          <a:stretch/>
        </p:blipFill>
        <p:spPr>
          <a:xfrm>
            <a:off x="2815472" y="398282"/>
            <a:ext cx="6561056" cy="60614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0"/>
          <p:cNvSpPr txBox="1"/>
          <p:nvPr/>
        </p:nvSpPr>
        <p:spPr>
          <a:xfrm>
            <a:off x="1097280" y="286603"/>
            <a:ext cx="10058400" cy="145075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alibri"/>
              <a:buNone/>
            </a:pPr>
            <a:r>
              <a:rPr lang="en-IN" sz="4400" b="1" u="sng">
                <a:solidFill>
                  <a:schemeClr val="dk1"/>
                </a:solidFill>
                <a:latin typeface="Calibri"/>
                <a:ea typeface="Calibri"/>
                <a:cs typeface="Calibri"/>
                <a:sym typeface="Calibri"/>
              </a:rPr>
              <a:t>Thingspeak</a:t>
            </a:r>
            <a:endParaRPr sz="4400" b="1" u="sng">
              <a:solidFill>
                <a:schemeClr val="dk1"/>
              </a:solidFill>
              <a:latin typeface="Calibri"/>
              <a:ea typeface="Calibri"/>
              <a:cs typeface="Calibri"/>
              <a:sym typeface="Calibri"/>
            </a:endParaRPr>
          </a:p>
        </p:txBody>
      </p:sp>
      <p:pic>
        <p:nvPicPr>
          <p:cNvPr id="179" name="Google Shape;179;p10"/>
          <p:cNvPicPr preferRelativeResize="0"/>
          <p:nvPr/>
        </p:nvPicPr>
        <p:blipFill rotWithShape="1">
          <a:blip r:embed="rId3">
            <a:alphaModFix/>
          </a:blip>
          <a:srcRect/>
          <a:stretch/>
        </p:blipFill>
        <p:spPr>
          <a:xfrm>
            <a:off x="3813292" y="2443993"/>
            <a:ext cx="4625741" cy="28272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p:nvPr/>
        </p:nvSpPr>
        <p:spPr>
          <a:xfrm>
            <a:off x="1097280" y="286603"/>
            <a:ext cx="10058400" cy="1450757"/>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Clr>
                <a:schemeClr val="dk1"/>
              </a:buClr>
              <a:buSzPts val="4800"/>
              <a:buFont typeface="Calibri"/>
              <a:buNone/>
            </a:pPr>
            <a:r>
              <a:rPr lang="en-IN" sz="4800" b="1" u="sng">
                <a:solidFill>
                  <a:schemeClr val="dk1"/>
                </a:solidFill>
                <a:latin typeface="Calibri"/>
                <a:ea typeface="Calibri"/>
                <a:cs typeface="Calibri"/>
                <a:sym typeface="Calibri"/>
              </a:rPr>
              <a:t>Thingspeak cloud</a:t>
            </a:r>
            <a:endParaRPr sz="4800" b="1" u="sng">
              <a:solidFill>
                <a:schemeClr val="dk1"/>
              </a:solidFill>
              <a:latin typeface="Calibri"/>
              <a:ea typeface="Calibri"/>
              <a:cs typeface="Calibri"/>
              <a:sym typeface="Calibri"/>
            </a:endParaRPr>
          </a:p>
        </p:txBody>
      </p:sp>
      <p:sp>
        <p:nvSpPr>
          <p:cNvPr id="185" name="Google Shape;185;p11"/>
          <p:cNvSpPr txBox="1"/>
          <p:nvPr/>
        </p:nvSpPr>
        <p:spPr>
          <a:xfrm>
            <a:off x="1097280" y="1845734"/>
            <a:ext cx="10058400" cy="4460798"/>
          </a:xfrm>
          <a:prstGeom prst="rect">
            <a:avLst/>
          </a:prstGeom>
          <a:noFill/>
          <a:ln>
            <a:noFill/>
          </a:ln>
        </p:spPr>
        <p:txBody>
          <a:bodyPr spcFirstLastPara="1" wrap="square" lIns="91425" tIns="45700" rIns="91425" bIns="45700" anchor="t" anchorCtr="0">
            <a:normAutofit fontScale="25000" lnSpcReduction="20000"/>
          </a:bodyPr>
          <a:lstStyle/>
          <a:p>
            <a:pPr marL="228600" marR="0" lvl="0" indent="-228600" algn="l" rtl="0">
              <a:lnSpc>
                <a:spcPct val="107000"/>
              </a:lnSpc>
              <a:spcBef>
                <a:spcPts val="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Thingspeak is an Internet of Things (IoT) platform that lets you collect and store sensor data in the cloud and develop IoT applications.</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Thingspeak IoT platform provides apps that let you analyse and visualise your data in matlab , and then act on the data.</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The connected devices communicate with people and other things and often provide sensor data do cloud storage and cloud computing resources when the data is processed and analysed to gain important insights cheap cloud computing power and increased device connectivity is enabling this trend</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How the device works?</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On the left we have smart devices that leave at the edge of the network these include sensors which collect data.</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In the middle we have the cloud where the data from many sources is aggregated analyst in real time often by IoT analytics platform designed for this purpose.</a:t>
            </a:r>
            <a:endParaRPr/>
          </a:p>
          <a:p>
            <a:pPr marL="228600" marR="0" lvl="0" indent="-228600" algn="l" rtl="0">
              <a:lnSpc>
                <a:spcPct val="107000"/>
              </a:lnSpc>
              <a:spcBef>
                <a:spcPts val="1800"/>
              </a:spcBef>
              <a:spcAft>
                <a:spcPts val="0"/>
              </a:spcAft>
              <a:buClr>
                <a:schemeClr val="dk1"/>
              </a:buClr>
              <a:buSzPct val="100000"/>
              <a:buFont typeface="Arial"/>
              <a:buChar char="•"/>
            </a:pPr>
            <a:r>
              <a:rPr lang="en-IN" sz="6800">
                <a:solidFill>
                  <a:schemeClr val="dk1"/>
                </a:solidFill>
                <a:latin typeface="Calibri"/>
                <a:ea typeface="Calibri"/>
                <a:cs typeface="Calibri"/>
                <a:sym typeface="Calibri"/>
              </a:rPr>
              <a:t>The right side of the diagram depicts the algorithm development associated with the IoT application this IoT system includes this elements.</a:t>
            </a:r>
            <a:endParaRPr/>
          </a:p>
          <a:p>
            <a:pPr marL="228600" marR="0" lvl="0" indent="-184150" algn="l" rtl="0">
              <a:lnSpc>
                <a:spcPct val="90000"/>
              </a:lnSpc>
              <a:spcBef>
                <a:spcPts val="1800"/>
              </a:spcBef>
              <a:spcAft>
                <a:spcPts val="0"/>
              </a:spcAft>
              <a:buClr>
                <a:schemeClr val="dk1"/>
              </a:buClr>
              <a:buSzPct val="100000"/>
              <a:buFont typeface="Arial"/>
              <a:buNone/>
            </a:pP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4"/>
          <p:cNvSpPr txBox="1"/>
          <p:nvPr/>
        </p:nvSpPr>
        <p:spPr>
          <a:xfrm>
            <a:off x="1120588" y="286603"/>
            <a:ext cx="10058400" cy="145075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800"/>
              <a:buFont typeface="Calibri"/>
              <a:buNone/>
            </a:pPr>
            <a:r>
              <a:rPr lang="en-IN" sz="4800" b="1" u="sng">
                <a:solidFill>
                  <a:srgbClr val="0C0C0C"/>
                </a:solidFill>
                <a:latin typeface="Calibri"/>
                <a:ea typeface="Calibri"/>
                <a:cs typeface="Calibri"/>
                <a:sym typeface="Calibri"/>
              </a:rPr>
              <a:t>Expected result</a:t>
            </a:r>
            <a:endParaRPr sz="4400" b="1" u="sng">
              <a:solidFill>
                <a:srgbClr val="0C0C0C"/>
              </a:solidFill>
              <a:latin typeface="Calibri"/>
              <a:ea typeface="Calibri"/>
              <a:cs typeface="Calibri"/>
              <a:sym typeface="Calibri"/>
            </a:endParaRPr>
          </a:p>
        </p:txBody>
      </p:sp>
      <p:sp>
        <p:nvSpPr>
          <p:cNvPr id="191" name="Google Shape;191;p14"/>
          <p:cNvSpPr txBox="1"/>
          <p:nvPr/>
        </p:nvSpPr>
        <p:spPr>
          <a:xfrm>
            <a:off x="1066800" y="1845734"/>
            <a:ext cx="10058400" cy="402336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07000"/>
              </a:lnSpc>
              <a:spcBef>
                <a:spcPts val="0"/>
              </a:spcBef>
              <a:spcAft>
                <a:spcPts val="0"/>
              </a:spcAft>
              <a:buClr>
                <a:srgbClr val="0C0C0C"/>
              </a:buClr>
              <a:buSzPts val="2000"/>
              <a:buFont typeface="Arial"/>
              <a:buChar char="•"/>
            </a:pPr>
            <a:r>
              <a:rPr lang="en-IN" sz="2000">
                <a:solidFill>
                  <a:srgbClr val="0C0C0C"/>
                </a:solidFill>
                <a:latin typeface="Calibri"/>
                <a:ea typeface="Calibri"/>
                <a:cs typeface="Calibri"/>
                <a:sym typeface="Calibri"/>
              </a:rPr>
              <a:t>Temperature, heat, moisture and light sensors are the four main sensors used in the project which give the exact value of temperature, heat, moisture and light respectively.</a:t>
            </a:r>
            <a:endParaRPr/>
          </a:p>
          <a:p>
            <a:pPr marL="228600" marR="0" lvl="0" indent="-228600" algn="l" rtl="0">
              <a:lnSpc>
                <a:spcPct val="107000"/>
              </a:lnSpc>
              <a:spcBef>
                <a:spcPts val="1800"/>
              </a:spcBef>
              <a:spcAft>
                <a:spcPts val="0"/>
              </a:spcAft>
              <a:buClr>
                <a:srgbClr val="0C0C0C"/>
              </a:buClr>
              <a:buSzPts val="2000"/>
              <a:buFont typeface="Arial"/>
              <a:buChar char="•"/>
            </a:pPr>
            <a:r>
              <a:rPr lang="en-IN" sz="2000">
                <a:solidFill>
                  <a:srgbClr val="0C0C0C"/>
                </a:solidFill>
                <a:latin typeface="Calibri"/>
                <a:ea typeface="Calibri"/>
                <a:cs typeface="Calibri"/>
                <a:sym typeface="Calibri"/>
              </a:rPr>
              <a:t>The sensors give the correct information according to the plants condition.</a:t>
            </a:r>
            <a:endParaRPr/>
          </a:p>
          <a:p>
            <a:pPr marL="228600" marR="0" lvl="0" indent="-228600" algn="l" rtl="0">
              <a:lnSpc>
                <a:spcPct val="107000"/>
              </a:lnSpc>
              <a:spcBef>
                <a:spcPts val="1800"/>
              </a:spcBef>
              <a:spcAft>
                <a:spcPts val="0"/>
              </a:spcAft>
              <a:buClr>
                <a:srgbClr val="0C0C0C"/>
              </a:buClr>
              <a:buSzPts val="2000"/>
              <a:buFont typeface="Arial"/>
              <a:buChar char="•"/>
            </a:pPr>
            <a:r>
              <a:rPr lang="en-IN" sz="2000">
                <a:solidFill>
                  <a:srgbClr val="0C0C0C"/>
                </a:solidFill>
                <a:latin typeface="Calibri"/>
                <a:ea typeface="Calibri"/>
                <a:cs typeface="Calibri"/>
                <a:sym typeface="Calibri"/>
              </a:rPr>
              <a:t>The result is displayed on the LCD screen present on the project end an Internet website.</a:t>
            </a:r>
            <a:endParaRPr/>
          </a:p>
          <a:p>
            <a:pPr marL="228600" marR="0" lvl="0" indent="-228600" algn="l" rtl="0">
              <a:lnSpc>
                <a:spcPct val="107000"/>
              </a:lnSpc>
              <a:spcBef>
                <a:spcPts val="1800"/>
              </a:spcBef>
              <a:spcAft>
                <a:spcPts val="0"/>
              </a:spcAft>
              <a:buClr>
                <a:srgbClr val="0C0C0C"/>
              </a:buClr>
              <a:buSzPts val="2000"/>
              <a:buFont typeface="Arial"/>
              <a:buChar char="•"/>
            </a:pPr>
            <a:r>
              <a:rPr lang="en-IN" sz="2000">
                <a:solidFill>
                  <a:srgbClr val="0C0C0C"/>
                </a:solidFill>
                <a:latin typeface="Calibri"/>
                <a:ea typeface="Calibri"/>
                <a:cs typeface="Calibri"/>
                <a:sym typeface="Calibri"/>
              </a:rPr>
              <a:t> </a:t>
            </a:r>
            <a:endParaRPr/>
          </a:p>
          <a:p>
            <a:pPr marL="228600" marR="0" lvl="0" indent="-101600" algn="l" rtl="0">
              <a:lnSpc>
                <a:spcPct val="90000"/>
              </a:lnSpc>
              <a:spcBef>
                <a:spcPts val="1800"/>
              </a:spcBef>
              <a:spcAft>
                <a:spcPts val="0"/>
              </a:spcAft>
              <a:buClr>
                <a:schemeClr val="dk1"/>
              </a:buClr>
              <a:buSzPts val="2000"/>
              <a:buFont typeface="Arial"/>
              <a:buNone/>
            </a:pPr>
            <a:endParaRPr sz="2000">
              <a:solidFill>
                <a:srgbClr val="0C0C0C"/>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a:stretch/>
        </p:blipFill>
        <p:spPr>
          <a:xfrm>
            <a:off x="3317842" y="4268528"/>
            <a:ext cx="5039963" cy="17089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5"/>
          <p:cNvSpPr txBox="1">
            <a:spLocks noGrp="1"/>
          </p:cNvSpPr>
          <p:nvPr>
            <p:ph type="title"/>
          </p:nvPr>
        </p:nvSpPr>
        <p:spPr>
          <a:xfrm>
            <a:off x="838200" y="365125"/>
            <a:ext cx="10515600" cy="419791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83333"/>
              <a:buFont typeface="Calibri"/>
              <a:buNone/>
            </a:pPr>
            <a:br>
              <a:rPr lang="en-IN" b="1" u="sng" dirty="0"/>
            </a:br>
            <a:r>
              <a:rPr lang="en-IN" b="1" u="sng" dirty="0" err="1"/>
              <a:t>Thingspeak</a:t>
            </a:r>
            <a:r>
              <a:rPr lang="en-IN" b="1" u="sng" dirty="0"/>
              <a:t> outputs:</a:t>
            </a:r>
            <a:br>
              <a:rPr lang="en-IN" b="1" u="sng" dirty="0"/>
            </a:br>
            <a:r>
              <a:rPr lang="en-IN" sz="2400" dirty="0"/>
              <a:t>graphical plots of four parameters </a:t>
            </a:r>
            <a:br>
              <a:rPr lang="en-IN" sz="2400" dirty="0"/>
            </a:br>
            <a:br>
              <a:rPr lang="en-IN" sz="2400" dirty="0"/>
            </a:br>
            <a:r>
              <a:rPr lang="en-IN" sz="2400" dirty="0"/>
              <a:t>1.Light </a:t>
            </a:r>
            <a:br>
              <a:rPr lang="en-IN" sz="2400" dirty="0"/>
            </a:br>
            <a:r>
              <a:rPr lang="en-IN" sz="2400" dirty="0"/>
              <a:t>2.Temperature</a:t>
            </a:r>
            <a:br>
              <a:rPr lang="en-IN" sz="2400" dirty="0"/>
            </a:br>
            <a:r>
              <a:rPr lang="en-IN" sz="2400" dirty="0"/>
              <a:t>3.moisture</a:t>
            </a:r>
            <a:br>
              <a:rPr lang="en-IN" sz="2400" b="1" u="sng" dirty="0"/>
            </a:br>
            <a:r>
              <a:rPr lang="en-IN" sz="2400" dirty="0"/>
              <a:t>4.Humidity</a:t>
            </a:r>
            <a:br>
              <a:rPr lang="en-IN" sz="2400" dirty="0"/>
            </a:br>
            <a:br>
              <a:rPr lang="en-IN" sz="2400" dirty="0"/>
            </a:br>
            <a:br>
              <a:rPr lang="en-IN" sz="2400" dirty="0"/>
            </a:br>
            <a:r>
              <a:rPr lang="en-IN" sz="2400" dirty="0"/>
              <a:t>finally updated on  MAY27th</a:t>
            </a:r>
            <a:endParaRPr sz="2400" b="1" u="sng"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69" name="Picture 753" descr="Diagram&#10;&#10;Description automatically generated with low confidence">
            <a:extLst>
              <a:ext uri="{FF2B5EF4-FFF2-40B4-BE49-F238E27FC236}">
                <a16:creationId xmlns:a16="http://schemas.microsoft.com/office/drawing/2014/main" id="{EA8DE87B-0831-2E6C-B6AA-F2FEBF3A5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188" y="1219200"/>
            <a:ext cx="5318125" cy="3665538"/>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754" descr="A picture containing table&#10;&#10;Description automatically generated">
            <a:extLst>
              <a:ext uri="{FF2B5EF4-FFF2-40B4-BE49-F238E27FC236}">
                <a16:creationId xmlns:a16="http://schemas.microsoft.com/office/drawing/2014/main" id="{9D870B7D-A78E-67F3-01D8-3B94883843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5278" y="1920081"/>
            <a:ext cx="5943600" cy="3017837"/>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4">
            <a:extLst>
              <a:ext uri="{FF2B5EF4-FFF2-40B4-BE49-F238E27FC236}">
                <a16:creationId xmlns:a16="http://schemas.microsoft.com/office/drawing/2014/main" id="{D6718B64-4252-37DF-5D13-A97E4F8AE725}"/>
              </a:ext>
            </a:extLst>
          </p:cNvPr>
          <p:cNvSpPr>
            <a:spLocks noChangeArrowheads="1"/>
          </p:cNvSpPr>
          <p:nvPr/>
        </p:nvSpPr>
        <p:spPr bwMode="auto">
          <a:xfrm>
            <a:off x="-457200" y="753268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9" name="TextBox 28">
            <a:extLst>
              <a:ext uri="{FF2B5EF4-FFF2-40B4-BE49-F238E27FC236}">
                <a16:creationId xmlns:a16="http://schemas.microsoft.com/office/drawing/2014/main" id="{F828D73B-C26F-6E69-6EA8-40F6A0CBAF75}"/>
              </a:ext>
            </a:extLst>
          </p:cNvPr>
          <p:cNvSpPr txBox="1"/>
          <p:nvPr/>
        </p:nvSpPr>
        <p:spPr>
          <a:xfrm>
            <a:off x="685800" y="385440"/>
            <a:ext cx="6325384"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tab pos="5305425" algn="l"/>
              </a:tabLst>
            </a:pPr>
            <a:r>
              <a:rPr kumimoji="0" lang="en-US" alt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RESULTS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305425" algn="l"/>
              </a:tabLst>
            </a:pPr>
            <a:r>
              <a:rPr kumimoji="0" lang="en-US" altLang="en-US" sz="18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FROM THINGSPEAK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3074" name="Picture 755" descr="Chart, line chart&#10;&#10;Description automatically generated">
            <a:extLst>
              <a:ext uri="{FF2B5EF4-FFF2-40B4-BE49-F238E27FC236}">
                <a16:creationId xmlns:a16="http://schemas.microsoft.com/office/drawing/2014/main" id="{5E6E2884-A2C7-A115-8163-3650D762E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55" y="1668462"/>
            <a:ext cx="5943600" cy="3521075"/>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756" descr="Chart, line chart&#10;&#10;Description automatically generated">
            <a:extLst>
              <a:ext uri="{FF2B5EF4-FFF2-40B4-BE49-F238E27FC236}">
                <a16:creationId xmlns:a16="http://schemas.microsoft.com/office/drawing/2014/main" id="{64BC276B-4473-A9D0-773D-44142A913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5555" y="1847773"/>
            <a:ext cx="5943600" cy="311626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C6E0732E-5D46-B0B1-9786-FFD5F93E649B}"/>
              </a:ext>
            </a:extLst>
          </p:cNvPr>
          <p:cNvSpPr>
            <a:spLocks noChangeArrowheads="1"/>
          </p:cNvSpPr>
          <p:nvPr/>
        </p:nvSpPr>
        <p:spPr bwMode="auto">
          <a:xfrm>
            <a:off x="4191000" y="288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5">
            <a:extLst>
              <a:ext uri="{FF2B5EF4-FFF2-40B4-BE49-F238E27FC236}">
                <a16:creationId xmlns:a16="http://schemas.microsoft.com/office/drawing/2014/main" id="{6607ABA2-0377-D5FD-C970-E73C4EDB4627}"/>
              </a:ext>
            </a:extLst>
          </p:cNvPr>
          <p:cNvSpPr>
            <a:spLocks noChangeArrowheads="1"/>
          </p:cNvSpPr>
          <p:nvPr/>
        </p:nvSpPr>
        <p:spPr bwMode="auto">
          <a:xfrm>
            <a:off x="4191000" y="78597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624CC-3275-1475-F5A0-90016909A6BC}"/>
              </a:ext>
            </a:extLst>
          </p:cNvPr>
          <p:cNvSpPr>
            <a:spLocks noGrp="1"/>
          </p:cNvSpPr>
          <p:nvPr>
            <p:ph type="title"/>
          </p:nvPr>
        </p:nvSpPr>
        <p:spPr/>
        <p:txBody>
          <a:bodyPr/>
          <a:lstStyle/>
          <a:p>
            <a:endParaRPr lang="en-IN"/>
          </a:p>
        </p:txBody>
      </p:sp>
      <p:pic>
        <p:nvPicPr>
          <p:cNvPr id="3" name="Picture 2" descr="Diagram&#10;&#10;Description automatically generated">
            <a:extLst>
              <a:ext uri="{FF2B5EF4-FFF2-40B4-BE49-F238E27FC236}">
                <a16:creationId xmlns:a16="http://schemas.microsoft.com/office/drawing/2014/main" id="{AF5BF767-5A95-2EDB-523F-C931602E66E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2047823"/>
            <a:ext cx="4046220" cy="4434840"/>
          </a:xfrm>
          <a:prstGeom prst="rect">
            <a:avLst/>
          </a:prstGeom>
          <a:noFill/>
          <a:ln>
            <a:noFill/>
          </a:ln>
        </p:spPr>
      </p:pic>
    </p:spTree>
    <p:extLst>
      <p:ext uri="{BB962C8B-B14F-4D97-AF65-F5344CB8AC3E}">
        <p14:creationId xmlns:p14="http://schemas.microsoft.com/office/powerpoint/2010/main" val="1374171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4" name="TextBox 3">
            <a:extLst>
              <a:ext uri="{FF2B5EF4-FFF2-40B4-BE49-F238E27FC236}">
                <a16:creationId xmlns:a16="http://schemas.microsoft.com/office/drawing/2014/main" id="{3E9D6CB0-4AD5-B14B-FF1F-A08FA4B78D40}"/>
              </a:ext>
            </a:extLst>
          </p:cNvPr>
          <p:cNvSpPr txBox="1"/>
          <p:nvPr/>
        </p:nvSpPr>
        <p:spPr>
          <a:xfrm>
            <a:off x="685800" y="152400"/>
            <a:ext cx="11049000" cy="5934958"/>
          </a:xfrm>
          <a:prstGeom prst="rect">
            <a:avLst/>
          </a:prstGeom>
          <a:noFill/>
        </p:spPr>
        <p:txBody>
          <a:bodyPr wrap="square">
            <a:spAutoFit/>
          </a:bodyPr>
          <a:lstStyle/>
          <a:p>
            <a:pPr marL="215900" marR="2298700" algn="ctr">
              <a:spcBef>
                <a:spcPts val="355"/>
              </a:spcBef>
              <a:spcAft>
                <a:spcPts val="0"/>
              </a:spcAft>
            </a:pPr>
            <a:r>
              <a:rPr lang="en-US" sz="1900" b="1" dirty="0">
                <a:effectLst/>
                <a:latin typeface="Times New Roman" panose="02020603050405020304" pitchFamily="18" charset="0"/>
                <a:ea typeface="Times New Roman" panose="02020603050405020304" pitchFamily="18" charset="0"/>
              </a:rPr>
              <a:t> FUTURE</a:t>
            </a:r>
            <a:r>
              <a:rPr lang="en-US" sz="1900" b="1" spc="-20" dirty="0">
                <a:effectLst/>
                <a:latin typeface="Times New Roman" panose="02020603050405020304" pitchFamily="18" charset="0"/>
                <a:ea typeface="Times New Roman" panose="02020603050405020304" pitchFamily="18" charset="0"/>
              </a:rPr>
              <a:t> </a:t>
            </a:r>
            <a:r>
              <a:rPr lang="en-US" sz="1900" b="1" dirty="0">
                <a:effectLst/>
                <a:latin typeface="Times New Roman" panose="02020603050405020304" pitchFamily="18" charset="0"/>
                <a:ea typeface="Times New Roman" panose="02020603050405020304" pitchFamily="18" charset="0"/>
              </a:rPr>
              <a:t>SCOPE</a:t>
            </a:r>
            <a:endParaRPr lang="en-IN" sz="1900" b="1" dirty="0">
              <a:effectLst/>
              <a:latin typeface="Times New Roman" panose="02020603050405020304" pitchFamily="18" charset="0"/>
              <a:ea typeface="Times New Roman" panose="02020603050405020304" pitchFamily="18" charset="0"/>
            </a:endParaRPr>
          </a:p>
          <a:p>
            <a:pPr marL="215900" marR="2298700" algn="ctr">
              <a:spcBef>
                <a:spcPts val="355"/>
              </a:spcBef>
              <a:spcAft>
                <a:spcPts val="0"/>
              </a:spcAft>
            </a:pPr>
            <a:r>
              <a:rPr lang="en-US" sz="1900" b="1" dirty="0">
                <a:effectLst/>
                <a:latin typeface="Times New Roman" panose="02020603050405020304" pitchFamily="18" charset="0"/>
                <a:ea typeface="Times New Roman" panose="02020603050405020304" pitchFamily="18" charset="0"/>
              </a:rPr>
              <a:t> </a:t>
            </a:r>
            <a:endParaRPr lang="en-IN" sz="1900" b="1" dirty="0">
              <a:effectLst/>
              <a:latin typeface="Times New Roman" panose="02020603050405020304" pitchFamily="18" charset="0"/>
              <a:ea typeface="Times New Roman" panose="02020603050405020304" pitchFamily="18" charset="0"/>
            </a:endParaRPr>
          </a:p>
          <a:p>
            <a:pPr marL="215900" marR="2298700" algn="ctr">
              <a:spcBef>
                <a:spcPts val="355"/>
              </a:spcBef>
              <a:spcAft>
                <a:spcPts val="0"/>
              </a:spcAft>
            </a:pPr>
            <a:r>
              <a:rPr lang="en-US" sz="1600" b="1" dirty="0">
                <a:effectLst/>
                <a:latin typeface="Times New Roman" panose="02020603050405020304" pitchFamily="18" charset="0"/>
                <a:ea typeface="Times New Roman" panose="02020603050405020304" pitchFamily="18" charset="0"/>
              </a:rPr>
              <a:t> </a:t>
            </a:r>
            <a:endParaRPr lang="en-IN" sz="1600" b="1" dirty="0">
              <a:effectLst/>
              <a:latin typeface="Times New Roman" panose="02020603050405020304" pitchFamily="18" charset="0"/>
              <a:ea typeface="Times New Roman" panose="02020603050405020304" pitchFamily="18" charset="0"/>
            </a:endParaRPr>
          </a:p>
          <a:p>
            <a:pPr>
              <a:spcAft>
                <a:spcPts val="1800"/>
              </a:spcAft>
            </a:pPr>
            <a:r>
              <a:rPr lang="en-IN" sz="1700" spc="25" dirty="0">
                <a:solidFill>
                  <a:srgbClr val="1F2121"/>
                </a:solidFill>
                <a:effectLst/>
                <a:latin typeface="Calibri" panose="020F0502020204030204" pitchFamily="34" charset="0"/>
                <a:ea typeface="Calibri" panose="020F0502020204030204" pitchFamily="34" charset="0"/>
                <a:cs typeface="Calibri" panose="020F0502020204030204" pitchFamily="34" charset="0"/>
              </a:rPr>
              <a:t>Equipped with modern sensor and communications technologies, smart greenhouses automatically capture and deliver information 24/7 on the surroundings and crop. Collected data is fed into an IoT platform where analytical algorithms turn it into actionable intelligence to uncover bottlenecks and abnormalities. Accordingly, HVAC and lighting operations, alongside irrigation and spraying activities can be regulated on-demand. Continuous data monitoring facilitates the development of predictive models to assess crop disease and infection risks.</a:t>
            </a:r>
            <a:endParaRPr lang="en-IN" sz="1700" dirty="0">
              <a:effectLst/>
              <a:latin typeface="Calibri" panose="020F0502020204030204" pitchFamily="34" charset="0"/>
              <a:ea typeface="Calibri" panose="020F0502020204030204" pitchFamily="34" charset="0"/>
              <a:cs typeface="Calibri" panose="020F0502020204030204" pitchFamily="34" charset="0"/>
            </a:endParaRPr>
          </a:p>
          <a:p>
            <a:pPr>
              <a:spcAft>
                <a:spcPts val="1800"/>
              </a:spcAft>
            </a:pPr>
            <a:r>
              <a:rPr lang="en-IN" sz="1700" spc="25" dirty="0">
                <a:solidFill>
                  <a:srgbClr val="1F2121"/>
                </a:solidFill>
                <a:effectLst/>
                <a:latin typeface="Calibri" panose="020F0502020204030204" pitchFamily="34" charset="0"/>
                <a:ea typeface="Calibri" panose="020F0502020204030204" pitchFamily="34" charset="0"/>
                <a:cs typeface="Calibri" panose="020F0502020204030204" pitchFamily="34" charset="0"/>
              </a:rPr>
              <a:t>By unlocking massive crop insights, a smart greenhouse allows growers to minimize </a:t>
            </a:r>
            <a:r>
              <a:rPr lang="en-IN" sz="1700" spc="25" dirty="0" err="1">
                <a:solidFill>
                  <a:srgbClr val="1F2121"/>
                </a:solidFill>
                <a:effectLst/>
                <a:latin typeface="Calibri" panose="020F0502020204030204" pitchFamily="34" charset="0"/>
                <a:ea typeface="Calibri" panose="020F0502020204030204" pitchFamily="34" charset="0"/>
                <a:cs typeface="Calibri" panose="020F0502020204030204" pitchFamily="34" charset="0"/>
              </a:rPr>
              <a:t>labor</a:t>
            </a:r>
            <a:r>
              <a:rPr lang="en-IN" sz="1700" spc="25" dirty="0">
                <a:solidFill>
                  <a:srgbClr val="1F2121"/>
                </a:solidFill>
                <a:effectLst/>
                <a:latin typeface="Calibri" panose="020F0502020204030204" pitchFamily="34" charset="0"/>
                <a:ea typeface="Calibri" panose="020F0502020204030204" pitchFamily="34" charset="0"/>
                <a:cs typeface="Calibri" panose="020F0502020204030204" pitchFamily="34" charset="0"/>
              </a:rPr>
              <a:t> work, improve efficiency in resource and chemical use while optimizing yield rates.</a:t>
            </a:r>
            <a:endParaRPr lang="en-IN" sz="1700" dirty="0">
              <a:effectLst/>
              <a:latin typeface="Calibri" panose="020F0502020204030204" pitchFamily="34" charset="0"/>
              <a:ea typeface="Calibri" panose="020F0502020204030204" pitchFamily="34" charset="0"/>
              <a:cs typeface="Calibri" panose="020F0502020204030204" pitchFamily="34" charset="0"/>
            </a:endParaRPr>
          </a:p>
          <a:p>
            <a:r>
              <a:rPr lang="en-US" sz="1700" dirty="0">
                <a:effectLst/>
                <a:latin typeface="Calibri" panose="020F0502020204030204" pitchFamily="34" charset="0"/>
                <a:ea typeface="Calibri" panose="020F0502020204030204" pitchFamily="34" charset="0"/>
                <a:cs typeface="Calibri" panose="020F0502020204030204" pitchFamily="34" charset="0"/>
              </a:rPr>
              <a:t> </a:t>
            </a:r>
            <a:endParaRPr lang="en-IN" sz="1700" dirty="0">
              <a:effectLst/>
              <a:latin typeface="Calibri" panose="020F0502020204030204" pitchFamily="34" charset="0"/>
              <a:ea typeface="Calibri" panose="020F0502020204030204" pitchFamily="34" charset="0"/>
              <a:cs typeface="Calibri" panose="020F0502020204030204" pitchFamily="34" charset="0"/>
            </a:endParaRPr>
          </a:p>
          <a:p>
            <a:r>
              <a:rPr lang="en-US" sz="1700" dirty="0">
                <a:effectLst/>
                <a:latin typeface="Calibri" panose="020F0502020204030204" pitchFamily="34" charset="0"/>
                <a:ea typeface="Calibri" panose="020F0502020204030204" pitchFamily="34" charset="0"/>
                <a:cs typeface="Calibri" panose="020F0502020204030204" pitchFamily="34" charset="0"/>
              </a:rPr>
              <a:t>The future or the enhanced version is developed using more advanced  sensors and AI  and machine learning algorithms .</a:t>
            </a:r>
            <a:r>
              <a:rPr lang="en-US" sz="17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The aim for designing AI-based automation systems in greenhouse environments such as those that operate with fuzzy logic or neural network algorithms is to shift toward a robust, predictive, and adaptive control command strategies that reduce production costs and improve yield. Artificial intelligence is a computer system that is programmed to present intelligent behavior by perceiving the environment, making decisions, and taking action. AI can contribute to sustainable greenhouse production in different ways such as reducing the electrical energy consumption of the climate control systems, or reducing water and chemical demands for fertigation system.</a:t>
            </a:r>
            <a:endParaRPr lang="en-IN" sz="1700" dirty="0">
              <a:effectLst/>
              <a:latin typeface="Calibri" panose="020F0502020204030204" pitchFamily="34" charset="0"/>
              <a:ea typeface="Calibri" panose="020F0502020204030204" pitchFamily="34" charset="0"/>
              <a:cs typeface="Calibri" panose="020F0502020204030204" pitchFamily="34" charset="0"/>
            </a:endParaRPr>
          </a:p>
          <a:p>
            <a:br>
              <a:rPr lang="en-US" sz="17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p:nvPr/>
        </p:nvSpPr>
        <p:spPr>
          <a:xfrm>
            <a:off x="1097280" y="669303"/>
            <a:ext cx="10058400" cy="160255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4400"/>
              <a:buFont typeface="Calibri"/>
              <a:buNone/>
            </a:pPr>
            <a:r>
              <a:rPr lang="en-IN" sz="4400" b="1" u="sng">
                <a:solidFill>
                  <a:schemeClr val="dk1"/>
                </a:solidFill>
                <a:latin typeface="Calibri"/>
                <a:ea typeface="Calibri"/>
                <a:cs typeface="Calibri"/>
                <a:sym typeface="Calibri"/>
              </a:rPr>
              <a:t>Advantages</a:t>
            </a:r>
            <a:br>
              <a:rPr lang="en-IN" sz="4400">
                <a:solidFill>
                  <a:schemeClr val="dk1"/>
                </a:solidFill>
                <a:latin typeface="Calibri"/>
                <a:ea typeface="Calibri"/>
                <a:cs typeface="Calibri"/>
                <a:sym typeface="Calibri"/>
              </a:rPr>
            </a:br>
            <a:endParaRPr sz="4400">
              <a:solidFill>
                <a:schemeClr val="dk1"/>
              </a:solidFill>
              <a:latin typeface="Calibri"/>
              <a:ea typeface="Calibri"/>
              <a:cs typeface="Calibri"/>
              <a:sym typeface="Calibri"/>
            </a:endParaRPr>
          </a:p>
        </p:txBody>
      </p:sp>
      <p:sp>
        <p:nvSpPr>
          <p:cNvPr id="220" name="Google Shape;220;p20"/>
          <p:cNvSpPr txBox="1"/>
          <p:nvPr/>
        </p:nvSpPr>
        <p:spPr>
          <a:xfrm>
            <a:off x="1097280" y="2047401"/>
            <a:ext cx="10058400" cy="4277985"/>
          </a:xfrm>
          <a:prstGeom prst="rect">
            <a:avLst/>
          </a:prstGeom>
          <a:noFill/>
          <a:ln>
            <a:noFill/>
          </a:ln>
        </p:spPr>
        <p:txBody>
          <a:bodyPr spcFirstLastPara="1" wrap="square" lIns="91425" tIns="45700" rIns="91425" bIns="45700" anchor="t" anchorCtr="0">
            <a:normAutofit fontScale="25000" lnSpcReduction="20000"/>
          </a:bodyPr>
          <a:lstStyle/>
          <a:p>
            <a:pPr marL="228600" marR="0" lvl="0" indent="-228600" algn="l" rtl="0">
              <a:lnSpc>
                <a:spcPct val="90000"/>
              </a:lnSpc>
              <a:spcBef>
                <a:spcPts val="0"/>
              </a:spcBef>
              <a:spcAft>
                <a:spcPts val="0"/>
              </a:spcAft>
              <a:buClr>
                <a:schemeClr val="dk1"/>
              </a:buClr>
              <a:buSzPct val="100000"/>
              <a:buFont typeface="Arial"/>
              <a:buChar char="•"/>
            </a:pPr>
            <a:r>
              <a:rPr lang="en-IN" sz="6800" b="1" u="sng" dirty="0">
                <a:solidFill>
                  <a:schemeClr val="dk1"/>
                </a:solidFill>
                <a:latin typeface="Calibri"/>
                <a:ea typeface="Calibri"/>
                <a:cs typeface="Calibri"/>
                <a:sym typeface="Calibri"/>
              </a:rPr>
              <a:t>Cost Management and Waste Reduction:</a:t>
            </a:r>
            <a:r>
              <a:rPr lang="en-IN" sz="6800" dirty="0">
                <a:solidFill>
                  <a:schemeClr val="dk1"/>
                </a:solidFill>
                <a:latin typeface="Calibri"/>
                <a:ea typeface="Calibri"/>
                <a:cs typeface="Calibri"/>
                <a:sym typeface="Calibri"/>
              </a:rPr>
              <a:t> Mitigating risk is probably the best intervention that IoT can offer for the agriculture industry. If we can detect inconsistencies and anomalies in crop production, we will be able to control costs and reduce waste to increase production.</a:t>
            </a:r>
            <a:endParaRPr dirty="0"/>
          </a:p>
          <a:p>
            <a:pPr marL="228600" marR="0" lvl="0" indent="-228600" algn="l" rtl="0">
              <a:lnSpc>
                <a:spcPct val="90000"/>
              </a:lnSpc>
              <a:spcBef>
                <a:spcPts val="1000"/>
              </a:spcBef>
              <a:spcAft>
                <a:spcPts val="0"/>
              </a:spcAft>
              <a:buClr>
                <a:schemeClr val="dk1"/>
              </a:buClr>
              <a:buSzPct val="100000"/>
              <a:buFont typeface="Arial"/>
              <a:buChar char="•"/>
            </a:pPr>
            <a:r>
              <a:rPr lang="en-IN" sz="6800" b="1" u="sng" dirty="0">
                <a:solidFill>
                  <a:schemeClr val="dk1"/>
                </a:solidFill>
                <a:latin typeface="Calibri"/>
                <a:ea typeface="Calibri"/>
                <a:cs typeface="Calibri"/>
                <a:sym typeface="Calibri"/>
              </a:rPr>
              <a:t>Process Automation:</a:t>
            </a:r>
            <a:r>
              <a:rPr lang="en-IN" sz="6800" dirty="0">
                <a:solidFill>
                  <a:schemeClr val="dk1"/>
                </a:solidFill>
                <a:latin typeface="Calibri"/>
                <a:ea typeface="Calibri"/>
                <a:cs typeface="Calibri"/>
                <a:sym typeface="Calibri"/>
              </a:rPr>
              <a:t> We can get rid of the dependency of human </a:t>
            </a:r>
            <a:r>
              <a:rPr lang="en-IN" sz="6800" dirty="0" err="1">
                <a:solidFill>
                  <a:schemeClr val="dk1"/>
                </a:solidFill>
                <a:latin typeface="Calibri"/>
                <a:ea typeface="Calibri"/>
                <a:cs typeface="Calibri"/>
                <a:sym typeface="Calibri"/>
              </a:rPr>
              <a:t>labor</a:t>
            </a:r>
            <a:r>
              <a:rPr lang="en-IN" sz="6800" dirty="0">
                <a:solidFill>
                  <a:schemeClr val="dk1"/>
                </a:solidFill>
                <a:latin typeface="Calibri"/>
                <a:ea typeface="Calibri"/>
                <a:cs typeface="Calibri"/>
                <a:sym typeface="Calibri"/>
              </a:rPr>
              <a:t> to automate processes like irrigation, fertilizing, or pest control. IoT smart sensors and devices can maintain these processes through the product life cycle to increase production. </a:t>
            </a:r>
            <a:endParaRPr dirty="0"/>
          </a:p>
          <a:p>
            <a:pPr marL="228600" marR="0" lvl="0" indent="-228600" algn="l" rtl="0">
              <a:lnSpc>
                <a:spcPct val="90000"/>
              </a:lnSpc>
              <a:spcBef>
                <a:spcPts val="1000"/>
              </a:spcBef>
              <a:spcAft>
                <a:spcPts val="0"/>
              </a:spcAft>
              <a:buClr>
                <a:schemeClr val="dk1"/>
              </a:buClr>
              <a:buSzPct val="100000"/>
              <a:buFont typeface="Arial"/>
              <a:buChar char="•"/>
            </a:pPr>
            <a:r>
              <a:rPr lang="en-IN" sz="6800" b="1" u="sng" dirty="0">
                <a:solidFill>
                  <a:schemeClr val="dk1"/>
                </a:solidFill>
                <a:latin typeface="Calibri"/>
                <a:ea typeface="Calibri"/>
                <a:cs typeface="Calibri"/>
                <a:sym typeface="Calibri"/>
              </a:rPr>
              <a:t>Precision </a:t>
            </a:r>
            <a:r>
              <a:rPr lang="en-IN" sz="6800" b="1" u="sng" dirty="0" err="1">
                <a:solidFill>
                  <a:schemeClr val="dk1"/>
                </a:solidFill>
                <a:latin typeface="Calibri"/>
                <a:ea typeface="Calibri"/>
                <a:cs typeface="Calibri"/>
                <a:sym typeface="Calibri"/>
              </a:rPr>
              <a:t>Farming</a:t>
            </a:r>
            <a:r>
              <a:rPr lang="en-IN" sz="6800" b="1" dirty="0" err="1">
                <a:solidFill>
                  <a:schemeClr val="dk1"/>
                </a:solidFill>
                <a:latin typeface="Calibri"/>
                <a:ea typeface="Calibri"/>
                <a:cs typeface="Calibri"/>
                <a:sym typeface="Calibri"/>
              </a:rPr>
              <a:t>:</a:t>
            </a:r>
            <a:r>
              <a:rPr lang="en-IN" sz="6800" dirty="0" err="1">
                <a:solidFill>
                  <a:schemeClr val="dk1"/>
                </a:solidFill>
                <a:latin typeface="Calibri"/>
                <a:ea typeface="Calibri"/>
                <a:cs typeface="Calibri"/>
                <a:sym typeface="Calibri"/>
              </a:rPr>
              <a:t>Variable</a:t>
            </a:r>
            <a:r>
              <a:rPr lang="en-IN" sz="6800" dirty="0">
                <a:solidFill>
                  <a:schemeClr val="dk1"/>
                </a:solidFill>
                <a:latin typeface="Calibri"/>
                <a:ea typeface="Calibri"/>
                <a:cs typeface="Calibri"/>
                <a:sym typeface="Calibri"/>
              </a:rPr>
              <a:t> Rate Irrigation helps to optimize crop fields with improved yields and water efficiency. with precision farming, we can have more control over the farming practices and deliver quality products maintaining the highest standard as well. </a:t>
            </a:r>
            <a:endParaRPr dirty="0"/>
          </a:p>
          <a:p>
            <a:pPr marL="228600" marR="0" lvl="0" indent="-228600" algn="l" rtl="0">
              <a:lnSpc>
                <a:spcPct val="90000"/>
              </a:lnSpc>
              <a:spcBef>
                <a:spcPts val="1000"/>
              </a:spcBef>
              <a:spcAft>
                <a:spcPts val="0"/>
              </a:spcAft>
              <a:buClr>
                <a:schemeClr val="dk1"/>
              </a:buClr>
              <a:buSzPct val="100000"/>
              <a:buFont typeface="Arial"/>
              <a:buChar char="•"/>
            </a:pPr>
            <a:r>
              <a:rPr lang="en-IN" sz="6800" dirty="0">
                <a:solidFill>
                  <a:schemeClr val="dk1"/>
                </a:solidFill>
                <a:latin typeface="Calibri"/>
                <a:ea typeface="Calibri"/>
                <a:cs typeface="Calibri"/>
                <a:sym typeface="Calibri"/>
              </a:rPr>
              <a:t> </a:t>
            </a:r>
            <a:r>
              <a:rPr lang="en-IN" sz="6800" b="1" u="sng" dirty="0">
                <a:solidFill>
                  <a:schemeClr val="dk1"/>
                </a:solidFill>
                <a:latin typeface="Calibri"/>
                <a:ea typeface="Calibri"/>
                <a:cs typeface="Calibri"/>
                <a:sym typeface="Calibri"/>
              </a:rPr>
              <a:t>Climate Condition </a:t>
            </a:r>
            <a:r>
              <a:rPr lang="en-IN" sz="6800" b="1" u="sng" dirty="0" err="1">
                <a:solidFill>
                  <a:schemeClr val="dk1"/>
                </a:solidFill>
                <a:latin typeface="Calibri"/>
                <a:ea typeface="Calibri"/>
                <a:cs typeface="Calibri"/>
                <a:sym typeface="Calibri"/>
              </a:rPr>
              <a:t>Monitoring</a:t>
            </a:r>
            <a:r>
              <a:rPr lang="en-IN" sz="6800" dirty="0" err="1">
                <a:solidFill>
                  <a:schemeClr val="dk1"/>
                </a:solidFill>
                <a:latin typeface="Calibri"/>
                <a:ea typeface="Calibri"/>
                <a:cs typeface="Calibri"/>
                <a:sym typeface="Calibri"/>
              </a:rPr>
              <a:t>:With</a:t>
            </a:r>
            <a:r>
              <a:rPr lang="en-IN" sz="6800" dirty="0">
                <a:solidFill>
                  <a:schemeClr val="dk1"/>
                </a:solidFill>
                <a:latin typeface="Calibri"/>
                <a:ea typeface="Calibri"/>
                <a:cs typeface="Calibri"/>
                <a:sym typeface="Calibri"/>
              </a:rPr>
              <a:t> the connected application, you can gain hidden patterns and transform data into actionable insights to do more than just monitoring climate. </a:t>
            </a:r>
            <a:endParaRPr dirty="0"/>
          </a:p>
          <a:p>
            <a:pPr marL="228600" marR="0" lvl="0" indent="-228600" algn="l" rtl="0">
              <a:lnSpc>
                <a:spcPct val="90000"/>
              </a:lnSpc>
              <a:spcBef>
                <a:spcPts val="1000"/>
              </a:spcBef>
              <a:spcAft>
                <a:spcPts val="0"/>
              </a:spcAft>
              <a:buClr>
                <a:schemeClr val="dk1"/>
              </a:buClr>
              <a:buSzPct val="100000"/>
              <a:buFont typeface="Arial"/>
              <a:buChar char="•"/>
            </a:pPr>
            <a:r>
              <a:rPr lang="en-IN" sz="6800" dirty="0">
                <a:solidFill>
                  <a:schemeClr val="dk1"/>
                </a:solidFill>
                <a:latin typeface="Calibri"/>
                <a:ea typeface="Calibri"/>
                <a:cs typeface="Calibri"/>
                <a:sym typeface="Calibri"/>
              </a:rPr>
              <a:t>You can detect the common diseases for wheat, vine, and apple crops. To mitigate the risk of other diseases, you can check the historical trend of collected data as well. </a:t>
            </a:r>
            <a:endParaRPr dirty="0"/>
          </a:p>
          <a:p>
            <a:pPr marL="228600" marR="0" lvl="0" indent="-228600" algn="l" rtl="0">
              <a:lnSpc>
                <a:spcPct val="90000"/>
              </a:lnSpc>
              <a:spcBef>
                <a:spcPts val="1000"/>
              </a:spcBef>
              <a:spcAft>
                <a:spcPts val="0"/>
              </a:spcAft>
              <a:buClr>
                <a:schemeClr val="dk1"/>
              </a:buClr>
              <a:buSzPct val="100000"/>
              <a:buFont typeface="Arial"/>
              <a:buChar char="•"/>
            </a:pPr>
            <a:r>
              <a:rPr lang="en-IN" sz="6800" b="1" dirty="0">
                <a:solidFill>
                  <a:schemeClr val="dk1"/>
                </a:solidFill>
                <a:latin typeface="Calibri"/>
                <a:ea typeface="Calibri"/>
                <a:cs typeface="Calibri"/>
                <a:sym typeface="Calibri"/>
              </a:rPr>
              <a:t> </a:t>
            </a:r>
            <a:r>
              <a:rPr lang="en-IN" sz="6800" b="1" u="sng" dirty="0">
                <a:solidFill>
                  <a:schemeClr val="dk1"/>
                </a:solidFill>
                <a:latin typeface="Calibri"/>
                <a:ea typeface="Calibri"/>
                <a:cs typeface="Calibri"/>
                <a:sym typeface="Calibri"/>
              </a:rPr>
              <a:t>Crop </a:t>
            </a:r>
            <a:r>
              <a:rPr lang="en-IN" sz="6800" b="1" u="sng" dirty="0" err="1">
                <a:solidFill>
                  <a:schemeClr val="dk1"/>
                </a:solidFill>
                <a:latin typeface="Calibri"/>
                <a:ea typeface="Calibri"/>
                <a:cs typeface="Calibri"/>
                <a:sym typeface="Calibri"/>
              </a:rPr>
              <a:t>Management</a:t>
            </a:r>
            <a:r>
              <a:rPr lang="en-IN" sz="6800" b="1" dirty="0" err="1">
                <a:solidFill>
                  <a:schemeClr val="dk1"/>
                </a:solidFill>
                <a:latin typeface="Calibri"/>
                <a:ea typeface="Calibri"/>
                <a:cs typeface="Calibri"/>
                <a:sym typeface="Calibri"/>
              </a:rPr>
              <a:t>:</a:t>
            </a:r>
            <a:r>
              <a:rPr lang="en-IN" sz="6800" dirty="0" err="1">
                <a:solidFill>
                  <a:schemeClr val="dk1"/>
                </a:solidFill>
                <a:latin typeface="Calibri"/>
                <a:ea typeface="Calibri"/>
                <a:cs typeface="Calibri"/>
                <a:sym typeface="Calibri"/>
              </a:rPr>
              <a:t>Like</a:t>
            </a:r>
            <a:r>
              <a:rPr lang="en-IN" sz="6800" dirty="0">
                <a:solidFill>
                  <a:schemeClr val="dk1"/>
                </a:solidFill>
                <a:latin typeface="Calibri"/>
                <a:ea typeface="Calibri"/>
                <a:cs typeface="Calibri"/>
                <a:sym typeface="Calibri"/>
              </a:rPr>
              <a:t> the weather stations, we have already discussed that crop management tools are usually installed in the crop field to collect specific data. </a:t>
            </a:r>
            <a:endParaRPr dirty="0"/>
          </a:p>
          <a:p>
            <a:pPr marL="228600" marR="0" lvl="0" indent="-228600" algn="l" rtl="0">
              <a:lnSpc>
                <a:spcPct val="90000"/>
              </a:lnSpc>
              <a:spcBef>
                <a:spcPts val="1000"/>
              </a:spcBef>
              <a:spcAft>
                <a:spcPts val="0"/>
              </a:spcAft>
              <a:buClr>
                <a:schemeClr val="dk1"/>
              </a:buClr>
              <a:buSzPct val="100000"/>
              <a:buFont typeface="Arial"/>
              <a:buChar char="•"/>
            </a:pPr>
            <a:r>
              <a:rPr lang="en-IN" sz="6800" dirty="0">
                <a:solidFill>
                  <a:schemeClr val="dk1"/>
                </a:solidFill>
                <a:latin typeface="Calibri"/>
                <a:ea typeface="Calibri"/>
                <a:cs typeface="Calibri"/>
                <a:sym typeface="Calibri"/>
              </a:rPr>
              <a:t>Farmers can get important information with the help of IoT, such as temperature fluctuation and precipitation to leaf water. </a:t>
            </a:r>
            <a:endParaRPr dirty="0"/>
          </a:p>
          <a:p>
            <a:pPr marL="228600" marR="0" lvl="0" indent="-120650" algn="l" rtl="0">
              <a:lnSpc>
                <a:spcPct val="90000"/>
              </a:lnSpc>
              <a:spcBef>
                <a:spcPts val="1000"/>
              </a:spcBef>
              <a:spcAft>
                <a:spcPts val="0"/>
              </a:spcAft>
              <a:buClr>
                <a:schemeClr val="dk1"/>
              </a:buClr>
              <a:buSzPct val="100000"/>
              <a:buFont typeface="Arial"/>
              <a:buNone/>
            </a:pPr>
            <a:endParaRPr sz="6800" dirty="0">
              <a:solidFill>
                <a:schemeClr val="dk1"/>
              </a:solidFill>
              <a:latin typeface="Calibri"/>
              <a:ea typeface="Calibri"/>
              <a:cs typeface="Calibri"/>
              <a:sym typeface="Calibri"/>
            </a:endParaRPr>
          </a:p>
          <a:p>
            <a:pPr marL="228600" marR="0" lvl="0" indent="-184150" algn="l" rtl="0">
              <a:lnSpc>
                <a:spcPct val="90000"/>
              </a:lnSpc>
              <a:spcBef>
                <a:spcPts val="1000"/>
              </a:spcBef>
              <a:spcAft>
                <a:spcPts val="0"/>
              </a:spcAft>
              <a:buClr>
                <a:schemeClr val="dk1"/>
              </a:buClr>
              <a:buSzPct val="100000"/>
              <a:buFont typeface="Arial"/>
              <a:buNone/>
            </a:pPr>
            <a:endParaRPr sz="2800" dirty="0">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chemeClr val="dk1"/>
              </a:buClr>
              <a:buSzPct val="100000"/>
              <a:buFont typeface="Arial"/>
              <a:buChar char="•"/>
            </a:pPr>
            <a:br>
              <a:rPr lang="en-IN" sz="2800" dirty="0">
                <a:solidFill>
                  <a:schemeClr val="dk1"/>
                </a:solidFill>
                <a:latin typeface="Calibri"/>
                <a:ea typeface="Calibri"/>
                <a:cs typeface="Calibri"/>
                <a:sym typeface="Calibri"/>
              </a:rPr>
            </a:br>
            <a:endParaRPr sz="2800" dirty="0">
              <a:solidFill>
                <a:schemeClr val="dk1"/>
              </a:solidFill>
              <a:latin typeface="Calibri"/>
              <a:ea typeface="Calibri"/>
              <a:cs typeface="Calibri"/>
              <a:sym typeface="Calibri"/>
            </a:endParaRPr>
          </a:p>
          <a:p>
            <a:pPr marL="228600" marR="0" lvl="0" indent="-184150" algn="l" rtl="0">
              <a:lnSpc>
                <a:spcPct val="90000"/>
              </a:lnSpc>
              <a:spcBef>
                <a:spcPts val="1000"/>
              </a:spcBef>
              <a:spcAft>
                <a:spcPts val="0"/>
              </a:spcAft>
              <a:buClr>
                <a:schemeClr val="dk1"/>
              </a:buClr>
              <a:buSzPct val="100000"/>
              <a:buFont typeface="Arial"/>
              <a:buNone/>
            </a:pPr>
            <a:endParaRPr sz="2800" dirty="0">
              <a:solidFill>
                <a:schemeClr val="dk1"/>
              </a:solidFill>
              <a:latin typeface="Calibri"/>
              <a:ea typeface="Calibri"/>
              <a:cs typeface="Calibri"/>
              <a:sym typeface="Calibri"/>
            </a:endParaRPr>
          </a:p>
          <a:p>
            <a:pPr marL="228600" marR="0" lvl="0" indent="-184150" algn="l" rtl="0">
              <a:lnSpc>
                <a:spcPct val="90000"/>
              </a:lnSpc>
              <a:spcBef>
                <a:spcPts val="1000"/>
              </a:spcBef>
              <a:spcAft>
                <a:spcPts val="0"/>
              </a:spcAft>
              <a:buClr>
                <a:schemeClr val="dk1"/>
              </a:buClr>
              <a:buSzPct val="100000"/>
              <a:buFont typeface="Arial"/>
              <a:buNone/>
            </a:pPr>
            <a:endParaRPr sz="2800" dirty="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9"/>
          <p:cNvSpPr txBox="1"/>
          <p:nvPr/>
        </p:nvSpPr>
        <p:spPr>
          <a:xfrm>
            <a:off x="1219200" y="236633"/>
            <a:ext cx="8458200" cy="90636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Calibri"/>
              <a:buNone/>
            </a:pPr>
            <a:r>
              <a:rPr lang="en-IN" sz="4400" b="1" u="sng" dirty="0">
                <a:solidFill>
                  <a:srgbClr val="0C0C0C"/>
                </a:solidFill>
                <a:latin typeface="Calibri"/>
                <a:ea typeface="Calibri"/>
                <a:cs typeface="Calibri"/>
                <a:sym typeface="Calibri"/>
              </a:rPr>
              <a:t>References papers and websites</a:t>
            </a:r>
            <a:endParaRPr dirty="0"/>
          </a:p>
          <a:p>
            <a:pPr marL="0" marR="0" lvl="0" indent="0" algn="l" rtl="0">
              <a:lnSpc>
                <a:spcPct val="90000"/>
              </a:lnSpc>
              <a:spcBef>
                <a:spcPts val="0"/>
              </a:spcBef>
              <a:spcAft>
                <a:spcPts val="0"/>
              </a:spcAft>
              <a:buClr>
                <a:schemeClr val="dk1"/>
              </a:buClr>
              <a:buSzPts val="4400"/>
              <a:buFont typeface="Calibri"/>
              <a:buNone/>
            </a:pPr>
            <a:endParaRPr sz="4400" b="1" u="sng" dirty="0">
              <a:solidFill>
                <a:srgbClr val="0C0C0C"/>
              </a:solidFill>
              <a:latin typeface="Calibri"/>
              <a:ea typeface="Calibri"/>
              <a:cs typeface="Calibri"/>
              <a:sym typeface="Calibri"/>
            </a:endParaRPr>
          </a:p>
        </p:txBody>
      </p:sp>
      <p:sp>
        <p:nvSpPr>
          <p:cNvPr id="226" name="Google Shape;226;p19"/>
          <p:cNvSpPr txBox="1"/>
          <p:nvPr/>
        </p:nvSpPr>
        <p:spPr>
          <a:xfrm>
            <a:off x="685800" y="838200"/>
            <a:ext cx="11201400" cy="4023360"/>
          </a:xfrm>
          <a:prstGeom prst="rect">
            <a:avLst/>
          </a:prstGeom>
          <a:noFill/>
          <a:ln>
            <a:noFill/>
          </a:ln>
        </p:spPr>
        <p:txBody>
          <a:bodyPr spcFirstLastPara="1" wrap="square" lIns="91425" tIns="45700" rIns="91425" bIns="45700" anchor="t" anchorCtr="0">
            <a:normAutofit fontScale="25000" lnSpcReduction="20000"/>
          </a:bodyPr>
          <a:lstStyle/>
          <a:p>
            <a:pPr marL="228600" marR="0" lvl="0" indent="-114300" algn="l" rtl="0">
              <a:lnSpc>
                <a:spcPct val="90000"/>
              </a:lnSpc>
              <a:spcBef>
                <a:spcPts val="0"/>
              </a:spcBef>
              <a:spcAft>
                <a:spcPts val="0"/>
              </a:spcAft>
              <a:buClr>
                <a:schemeClr val="dk1"/>
              </a:buClr>
              <a:buSzPts val="1800"/>
              <a:buFont typeface="Arial"/>
              <a:buNone/>
            </a:pPr>
            <a:endParaRPr sz="1800" dirty="0">
              <a:solidFill>
                <a:srgbClr val="0C0C0C"/>
              </a:solidFill>
              <a:latin typeface="Calibri" panose="020F0502020204030204" pitchFamily="34" charset="0"/>
              <a:ea typeface="Calibri" panose="020F0502020204030204" pitchFamily="34" charset="0"/>
              <a:cs typeface="Calibri" panose="020F0502020204030204" pitchFamily="34" charset="0"/>
              <a:sym typeface="Calibri"/>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[1] Khan_2020_J._Phys._Commun._4_055008 reference 2016</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[2] IoT based Smart Greenhouse Ravi Kishore </a:t>
            </a:r>
            <a:r>
              <a:rPr lang="en-US" sz="6400" dirty="0" err="1">
                <a:effectLst/>
                <a:latin typeface="Calibri" panose="020F0502020204030204" pitchFamily="34" charset="0"/>
                <a:ea typeface="Calibri" panose="020F0502020204030204" pitchFamily="34" charset="0"/>
                <a:cs typeface="Calibri" panose="020F0502020204030204" pitchFamily="34" charset="0"/>
              </a:rPr>
              <a:t>Kodali</a:t>
            </a:r>
            <a:r>
              <a:rPr lang="en-US" sz="6400" dirty="0">
                <a:effectLst/>
                <a:latin typeface="Calibri" panose="020F0502020204030204" pitchFamily="34" charset="0"/>
                <a:ea typeface="Calibri" panose="020F0502020204030204" pitchFamily="34" charset="0"/>
                <a:cs typeface="Calibri" panose="020F0502020204030204" pitchFamily="34" charset="0"/>
              </a:rPr>
              <a:t>, Vishal Jain and </a:t>
            </a:r>
            <a:r>
              <a:rPr lang="en-US" sz="6400" dirty="0" err="1">
                <a:effectLst/>
                <a:latin typeface="Calibri" panose="020F0502020204030204" pitchFamily="34" charset="0"/>
                <a:ea typeface="Calibri" panose="020F0502020204030204" pitchFamily="34" charset="0"/>
                <a:cs typeface="Calibri" panose="020F0502020204030204" pitchFamily="34" charset="0"/>
              </a:rPr>
              <a:t>Sumit</a:t>
            </a:r>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a:t>
            </a:r>
            <a:r>
              <a:rPr lang="en-US" sz="6400" dirty="0" err="1">
                <a:effectLst/>
                <a:latin typeface="Calibri" panose="020F0502020204030204" pitchFamily="34" charset="0"/>
                <a:ea typeface="Calibri" panose="020F0502020204030204" pitchFamily="34" charset="0"/>
                <a:cs typeface="Calibri" panose="020F0502020204030204" pitchFamily="34" charset="0"/>
              </a:rPr>
              <a:t>Karagwal</a:t>
            </a:r>
            <a:r>
              <a:rPr lang="en-US" sz="6400" dirty="0">
                <a:effectLst/>
                <a:latin typeface="Calibri" panose="020F0502020204030204" pitchFamily="34" charset="0"/>
                <a:ea typeface="Calibri" panose="020F0502020204030204" pitchFamily="34" charset="0"/>
                <a:cs typeface="Calibri" panose="020F0502020204030204" pitchFamily="34" charset="0"/>
              </a:rPr>
              <a:t> Department of Electronics and Communication Engineering National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Institute of Technology, Warangal</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[3] </a:t>
            </a:r>
            <a:r>
              <a:rPr lang="en-US" sz="6400"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3"/>
              </a:rPr>
              <a:t>https://www.slideshare.net/AmitSaini7/arduino-based-intelligent-greenhouse-</a:t>
            </a:r>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Project</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[4] </a:t>
            </a:r>
            <a:r>
              <a:rPr lang="en-US" sz="6400"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4"/>
              </a:rPr>
              <a:t>https://www.slideshare.net/zaynssetiawam/green-house-monitoring-system-based-</a:t>
            </a:r>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on-</a:t>
            </a:r>
            <a:r>
              <a:rPr lang="en-US" sz="6400" dirty="0" err="1">
                <a:effectLst/>
                <a:latin typeface="Calibri" panose="020F0502020204030204" pitchFamily="34" charset="0"/>
                <a:ea typeface="Calibri" panose="020F0502020204030204" pitchFamily="34" charset="0"/>
                <a:cs typeface="Calibri" panose="020F0502020204030204" pitchFamily="34" charset="0"/>
              </a:rPr>
              <a:t>arduino</a:t>
            </a:r>
            <a:r>
              <a:rPr lang="en-US" sz="6400" dirty="0">
                <a:effectLst/>
                <a:latin typeface="Calibri" panose="020F0502020204030204" pitchFamily="34" charset="0"/>
                <a:ea typeface="Calibri" panose="020F0502020204030204" pitchFamily="34" charset="0"/>
                <a:cs typeface="Calibri" panose="020F0502020204030204" pitchFamily="34" charset="0"/>
              </a:rPr>
              <a:t>-uno</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[5] </a:t>
            </a:r>
            <a:r>
              <a:rPr lang="en-US" sz="6400" u="sng" dirty="0">
                <a:solidFill>
                  <a:srgbClr val="0000FF"/>
                </a:solidFill>
                <a:effectLst/>
                <a:latin typeface="Calibri" panose="020F0502020204030204" pitchFamily="34" charset="0"/>
                <a:ea typeface="Calibri" panose="020F0502020204030204" pitchFamily="34" charset="0"/>
                <a:cs typeface="Calibri" panose="020F0502020204030204" pitchFamily="34" charset="0"/>
                <a:hlinkClick r:id="rId5"/>
              </a:rPr>
              <a:t>https://www.community.ruggedboard.com/post/iot-smart-agriculture</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[6]  Internet of Things Empowered Smart Greenhouse Farming </a:t>
            </a:r>
            <a:r>
              <a:rPr lang="en-US" sz="6400" dirty="0" err="1">
                <a:effectLst/>
                <a:latin typeface="Calibri" panose="020F0502020204030204" pitchFamily="34" charset="0"/>
                <a:ea typeface="Calibri" panose="020F0502020204030204" pitchFamily="34" charset="0"/>
                <a:cs typeface="Calibri" panose="020F0502020204030204" pitchFamily="34" charset="0"/>
              </a:rPr>
              <a:t>Rakiba</a:t>
            </a:r>
            <a:r>
              <a:rPr lang="en-US" sz="6400" dirty="0">
                <a:effectLst/>
                <a:latin typeface="Calibri" panose="020F0502020204030204" pitchFamily="34" charset="0"/>
                <a:ea typeface="Calibri" panose="020F0502020204030204" pitchFamily="34" charset="0"/>
                <a:cs typeface="Calibri" panose="020F0502020204030204" pitchFamily="34" charset="0"/>
              </a:rPr>
              <a:t> </a:t>
            </a:r>
            <a:r>
              <a:rPr lang="en-US" sz="6400" dirty="0" err="1">
                <a:effectLst/>
                <a:latin typeface="Calibri" panose="020F0502020204030204" pitchFamily="34" charset="0"/>
                <a:ea typeface="Calibri" panose="020F0502020204030204" pitchFamily="34" charset="0"/>
                <a:cs typeface="Calibri" panose="020F0502020204030204" pitchFamily="34" charset="0"/>
              </a:rPr>
              <a:t>Rayhana</a:t>
            </a:r>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Student Member, IEEE, </a:t>
            </a: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[7] Dr. Narayan G. Hegde, “Water Scarcity and Security in India”, BAIF Development</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Research Foundation, Pune.</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[8] Marvin T. </a:t>
            </a:r>
            <a:r>
              <a:rPr lang="en-US" sz="6400" dirty="0" err="1">
                <a:effectLst/>
                <a:latin typeface="Calibri" panose="020F0502020204030204" pitchFamily="34" charset="0"/>
                <a:ea typeface="Calibri" panose="020F0502020204030204" pitchFamily="34" charset="0"/>
                <a:cs typeface="Calibri" panose="020F0502020204030204" pitchFamily="34" charset="0"/>
              </a:rPr>
              <a:t>Batte</a:t>
            </a:r>
            <a:r>
              <a:rPr lang="en-US" sz="6400" dirty="0">
                <a:effectLst/>
                <a:latin typeface="Calibri" panose="020F0502020204030204" pitchFamily="34" charset="0"/>
                <a:ea typeface="Calibri" panose="020F0502020204030204" pitchFamily="34" charset="0"/>
                <a:cs typeface="Calibri" panose="020F0502020204030204" pitchFamily="34" charset="0"/>
              </a:rPr>
              <a:t>, “Changing computer use in agriculture: evidence from Ohio”,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Computers and Electronics in Agriculture, Elsevier science publishers, vol. 47, 1–</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782955" indent="-229235"/>
            <a:r>
              <a:rPr lang="en-US" sz="6400" dirty="0">
                <a:effectLst/>
                <a:latin typeface="Calibri" panose="020F0502020204030204" pitchFamily="34" charset="0"/>
                <a:ea typeface="Calibri" panose="020F0502020204030204" pitchFamily="34" charset="0"/>
                <a:cs typeface="Calibri" panose="020F0502020204030204" pitchFamily="34" charset="0"/>
              </a:rPr>
              <a:t> </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100000"/>
              </a:lnSpc>
              <a:buFont typeface="Calibri" panose="020F0502020204030204" pitchFamily="34" charset="0"/>
              <a:buChar char=" "/>
              <a:tabLst>
                <a:tab pos="227330" algn="l"/>
                <a:tab pos="457200" algn="l"/>
              </a:tabLst>
            </a:pPr>
            <a:r>
              <a:rPr lang="en-US" sz="6400" dirty="0">
                <a:effectLst/>
                <a:latin typeface="Calibri" panose="020F0502020204030204" pitchFamily="34" charset="0"/>
                <a:ea typeface="Calibri" panose="020F0502020204030204" pitchFamily="34" charset="0"/>
                <a:cs typeface="Calibri" panose="020F0502020204030204" pitchFamily="34" charset="0"/>
              </a:rPr>
              <a:t>    13, 2005</a:t>
            </a:r>
            <a:endParaRPr lang="en-IN" sz="6400" dirty="0">
              <a:effectLst/>
              <a:latin typeface="Calibri" panose="020F0502020204030204" pitchFamily="34" charset="0"/>
              <a:ea typeface="Calibri" panose="020F0502020204030204" pitchFamily="34" charset="0"/>
              <a:cs typeface="Calibri" panose="020F0502020204030204" pitchFamily="34" charset="0"/>
            </a:endParaRPr>
          </a:p>
          <a:p>
            <a:pPr marL="228600" marR="0" lvl="0" indent="-57150" algn="l" rtl="0">
              <a:lnSpc>
                <a:spcPct val="90000"/>
              </a:lnSpc>
              <a:spcBef>
                <a:spcPts val="1000"/>
              </a:spcBef>
              <a:spcAft>
                <a:spcPts val="0"/>
              </a:spcAft>
              <a:buClr>
                <a:schemeClr val="dk1"/>
              </a:buClr>
              <a:buSzPts val="2700"/>
              <a:buFont typeface="Arial"/>
              <a:buNone/>
            </a:pPr>
            <a:endParaRPr sz="2700" b="1" u="sng" dirty="0">
              <a:solidFill>
                <a:srgbClr val="0C0C0C"/>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90000"/>
              </a:lnSpc>
              <a:spcBef>
                <a:spcPts val="1000"/>
              </a:spcBef>
              <a:spcAft>
                <a:spcPts val="0"/>
              </a:spcAft>
              <a:buClr>
                <a:schemeClr val="dk1"/>
              </a:buClr>
              <a:buSzPts val="1800"/>
              <a:buFont typeface="Arial"/>
              <a:buNone/>
            </a:pPr>
            <a:endParaRPr sz="1800" dirty="0">
              <a:solidFill>
                <a:srgbClr val="0C0C0C"/>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1"/>
          <p:cNvSpPr txBox="1"/>
          <p:nvPr/>
        </p:nvSpPr>
        <p:spPr>
          <a:xfrm>
            <a:off x="255494" y="370936"/>
            <a:ext cx="11681011" cy="5883727"/>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endParaRPr sz="1800" u="sng">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IN" sz="2200" b="1" u="sng">
                <a:solidFill>
                  <a:schemeClr val="dk1"/>
                </a:solidFill>
                <a:latin typeface="Calibri"/>
                <a:ea typeface="Calibri"/>
                <a:cs typeface="Calibri"/>
                <a:sym typeface="Calibri"/>
              </a:rPr>
              <a:t>Limitations of the </a:t>
            </a:r>
            <a:r>
              <a:rPr lang="en-IN" sz="2500" b="1" u="sng">
                <a:solidFill>
                  <a:schemeClr val="dk1"/>
                </a:solidFill>
                <a:latin typeface="Calibri"/>
                <a:ea typeface="Calibri"/>
                <a:cs typeface="Calibri"/>
                <a:sym typeface="Calibri"/>
              </a:rPr>
              <a:t>project</a:t>
            </a:r>
            <a:r>
              <a:rPr lang="en-IN" sz="2200" b="1" u="sng">
                <a:solidFill>
                  <a:schemeClr val="dk1"/>
                </a:solidFill>
                <a:latin typeface="Calibri"/>
                <a:ea typeface="Calibri"/>
                <a:cs typeface="Calibri"/>
                <a:sym typeface="Calibri"/>
              </a:rPr>
              <a:t>:</a:t>
            </a:r>
            <a:endParaRPr/>
          </a:p>
          <a:p>
            <a:pPr marL="342900" marR="0" lvl="0" indent="-342900" algn="l" rtl="0">
              <a:lnSpc>
                <a:spcPct val="107000"/>
              </a:lnSpc>
              <a:spcBef>
                <a:spcPts val="800"/>
              </a:spcBef>
              <a:spcAft>
                <a:spcPts val="0"/>
              </a:spcAft>
              <a:buClr>
                <a:schemeClr val="dk1"/>
              </a:buClr>
              <a:buSzPts val="1800"/>
              <a:buFont typeface="Calibri"/>
              <a:buAutoNum type="arabicPeriod"/>
            </a:pPr>
            <a:r>
              <a:rPr lang="en-IN" sz="1800">
                <a:solidFill>
                  <a:schemeClr val="dk1"/>
                </a:solidFill>
                <a:latin typeface="Calibri"/>
                <a:ea typeface="Calibri"/>
                <a:cs typeface="Calibri"/>
                <a:sym typeface="Calibri"/>
              </a:rPr>
              <a:t>Suitable for only limited variety of crops</a:t>
            </a:r>
            <a:endParaRPr/>
          </a:p>
          <a:p>
            <a:pPr marL="342900" marR="0" lvl="0" indent="-342900" algn="l" rtl="0">
              <a:lnSpc>
                <a:spcPct val="107000"/>
              </a:lnSpc>
              <a:spcBef>
                <a:spcPts val="800"/>
              </a:spcBef>
              <a:spcAft>
                <a:spcPts val="0"/>
              </a:spcAft>
              <a:buClr>
                <a:schemeClr val="dk1"/>
              </a:buClr>
              <a:buSzPts val="1800"/>
              <a:buFont typeface="Calibri"/>
              <a:buAutoNum type="arabicPeriod"/>
            </a:pPr>
            <a:r>
              <a:rPr lang="en-IN" sz="1800">
                <a:solidFill>
                  <a:schemeClr val="dk1"/>
                </a:solidFill>
                <a:latin typeface="Calibri"/>
                <a:ea typeface="Calibri"/>
                <a:cs typeface="Calibri"/>
                <a:sym typeface="Calibri"/>
              </a:rPr>
              <a:t>Economical only when implemented only on large scale</a:t>
            </a:r>
            <a:endParaRPr/>
          </a:p>
          <a:p>
            <a:pPr marL="342900" marR="0" lvl="0" indent="-342900" algn="l" rtl="0">
              <a:lnSpc>
                <a:spcPct val="107000"/>
              </a:lnSpc>
              <a:spcBef>
                <a:spcPts val="800"/>
              </a:spcBef>
              <a:spcAft>
                <a:spcPts val="0"/>
              </a:spcAft>
              <a:buClr>
                <a:schemeClr val="dk1"/>
              </a:buClr>
              <a:buSzPts val="1800"/>
              <a:buFont typeface="Calibri"/>
              <a:buAutoNum type="arabicPeriod"/>
            </a:pPr>
            <a:r>
              <a:rPr lang="en-IN" sz="1800">
                <a:solidFill>
                  <a:schemeClr val="dk1"/>
                </a:solidFill>
                <a:latin typeface="Calibri"/>
                <a:ea typeface="Calibri"/>
                <a:cs typeface="Calibri"/>
                <a:sym typeface="Calibri"/>
              </a:rPr>
              <a:t>Takes time for ROI</a:t>
            </a:r>
            <a:endParaRPr/>
          </a:p>
          <a:p>
            <a:pPr marL="342900" marR="0" lvl="0" indent="-342900" algn="l" rtl="0">
              <a:lnSpc>
                <a:spcPct val="107000"/>
              </a:lnSpc>
              <a:spcBef>
                <a:spcPts val="800"/>
              </a:spcBef>
              <a:spcAft>
                <a:spcPts val="0"/>
              </a:spcAft>
              <a:buClr>
                <a:schemeClr val="dk1"/>
              </a:buClr>
              <a:buSzPts val="1800"/>
              <a:buFont typeface="Calibri"/>
              <a:buAutoNum type="arabicPeriod"/>
            </a:pPr>
            <a:r>
              <a:rPr lang="en-IN" sz="1800">
                <a:solidFill>
                  <a:schemeClr val="dk1"/>
                </a:solidFill>
                <a:latin typeface="Calibri"/>
                <a:ea typeface="Calibri"/>
                <a:cs typeface="Calibri"/>
                <a:sym typeface="Calibri"/>
              </a:rPr>
              <a:t>Disability of recognising pests </a:t>
            </a:r>
            <a:endParaRPr/>
          </a:p>
          <a:p>
            <a:pPr marL="0" marR="0" lvl="0" indent="0" algn="l" rtl="0">
              <a:lnSpc>
                <a:spcPct val="107000"/>
              </a:lnSpc>
              <a:spcBef>
                <a:spcPts val="800"/>
              </a:spcBef>
              <a:spcAft>
                <a:spcPts val="0"/>
              </a:spcAft>
              <a:buNone/>
            </a:pPr>
            <a:endParaRPr sz="1800">
              <a:solidFill>
                <a:schemeClr val="dk1"/>
              </a:solidFill>
              <a:latin typeface="Calibri"/>
              <a:ea typeface="Calibri"/>
              <a:cs typeface="Calibri"/>
              <a:sym typeface="Calibri"/>
            </a:endParaRPr>
          </a:p>
          <a:p>
            <a:pPr marL="342900" marR="0" lvl="0" indent="-228600" algn="l" rtl="0">
              <a:lnSpc>
                <a:spcPct val="107000"/>
              </a:lnSpc>
              <a:spcBef>
                <a:spcPts val="800"/>
              </a:spcBef>
              <a:spcAft>
                <a:spcPts val="0"/>
              </a:spcAft>
              <a:buClr>
                <a:schemeClr val="dk1"/>
              </a:buClr>
              <a:buSzPts val="1800"/>
              <a:buFont typeface="Calibri"/>
              <a:buNone/>
            </a:pPr>
            <a:endParaRPr sz="1800" u="sng">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endParaRPr sz="1800" u="sng">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endParaRPr sz="1800" u="sng">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IN" sz="2500" b="1" u="sng">
                <a:solidFill>
                  <a:schemeClr val="dk1"/>
                </a:solidFill>
                <a:latin typeface="Calibri"/>
                <a:ea typeface="Calibri"/>
                <a:cs typeface="Calibri"/>
                <a:sym typeface="Calibri"/>
              </a:rPr>
              <a:t>Conclusion</a:t>
            </a:r>
            <a:r>
              <a:rPr lang="en-IN" sz="2500" b="1">
                <a:solidFill>
                  <a:schemeClr val="dk1"/>
                </a:solidFill>
                <a:latin typeface="Calibri"/>
                <a:ea typeface="Calibri"/>
                <a:cs typeface="Calibri"/>
                <a:sym typeface="Calibri"/>
              </a:rPr>
              <a:t>: </a:t>
            </a:r>
            <a:endParaRPr/>
          </a:p>
          <a:p>
            <a:pPr marL="0" marR="0" lvl="0" indent="0" algn="l" rtl="0">
              <a:lnSpc>
                <a:spcPct val="107000"/>
              </a:lnSpc>
              <a:spcBef>
                <a:spcPts val="800"/>
              </a:spcBef>
              <a:spcAft>
                <a:spcPts val="0"/>
              </a:spcAft>
              <a:buNone/>
            </a:pPr>
            <a:r>
              <a:rPr lang="en-IN" sz="1800">
                <a:solidFill>
                  <a:schemeClr val="dk1"/>
                </a:solidFill>
                <a:latin typeface="Calibri"/>
                <a:ea typeface="Calibri"/>
                <a:cs typeface="Calibri"/>
                <a:sym typeface="Calibri"/>
              </a:rPr>
              <a:t>The monitoring &amp; controlling system of the Smart Greenhouse Automation precepts different parameters inside the greenhouse using sensors, GSM &amp; IOT to provide the updates. The developed system can be proved profitable as it will optimize the resources in the greenhouse. The complete module is of low cost, low power operation hence, easily available to everyone.</a:t>
            </a:r>
            <a:endParaRPr sz="14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2" descr="11 Unique Ways to Say &amp;#39;Thank You&amp;#39; in an Email | Grammarly"/>
          <p:cNvPicPr preferRelativeResize="0"/>
          <p:nvPr/>
        </p:nvPicPr>
        <p:blipFill rotWithShape="1">
          <a:blip r:embed="rId3">
            <a:alphaModFix/>
          </a:blip>
          <a:srcRect/>
          <a:stretch/>
        </p:blipFill>
        <p:spPr>
          <a:xfrm>
            <a:off x="62753" y="579749"/>
            <a:ext cx="12192000" cy="627825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2659</Words>
  <Application>Microsoft Office PowerPoint</Application>
  <PresentationFormat>Widescreen</PresentationFormat>
  <Paragraphs>248</Paragraphs>
  <Slides>27</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Avenir</vt:lpstr>
      <vt:lpstr>Open Sans</vt:lpstr>
      <vt:lpstr>Aharoni</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Thingspeak outputs: graphical plots of four parameters   1.Light  2.Temperature 3.moisture 4.Humidity   finally updated on  MAY27th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tejo venkatesh</dc:creator>
  <cp:lastModifiedBy>tejo venkatesh</cp:lastModifiedBy>
  <cp:revision>5</cp:revision>
  <dcterms:created xsi:type="dcterms:W3CDTF">2022-04-19T15:58:06Z</dcterms:created>
  <dcterms:modified xsi:type="dcterms:W3CDTF">2022-05-27T16:24:37Z</dcterms:modified>
</cp:coreProperties>
</file>